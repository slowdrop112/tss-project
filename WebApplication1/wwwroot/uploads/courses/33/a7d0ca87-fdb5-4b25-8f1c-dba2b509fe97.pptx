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Source Serif 4 Semi Bold"/>
      <p:regular r:id="rId17"/>
    </p:embeddedFont>
    <p:embeddedFont>
      <p:font typeface="Source Serif 4 Semi Bold"/>
      <p:regular r:id="rId18"/>
    </p:embeddedFont>
    <p:embeddedFont>
      <p:font typeface="Source Serif 4 Semi Bold"/>
      <p:regular r:id="rId19"/>
    </p:embeddedFont>
    <p:embeddedFont>
      <p:font typeface="Source Serif 4 Semi Bold"/>
      <p:regular r:id="rId20"/>
    </p:embeddedFont>
    <p:embeddedFont>
      <p:font typeface="Source Sans 3"/>
      <p:regular r:id="rId21"/>
    </p:embeddedFont>
    <p:embeddedFont>
      <p:font typeface="Source Sans 3"/>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slideLayout" Target="../slideLayouts/slideLayout5.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slideLayout" Target="../slideLayouts/slideLayout9.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Shape 0"/>
          <p:cNvSpPr/>
          <p:nvPr/>
        </p:nvSpPr>
        <p:spPr>
          <a:xfrm>
            <a:off x="9144000" y="0"/>
            <a:ext cx="5486400" cy="8229600"/>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9144000" y="0"/>
            <a:ext cx="5486400" cy="8229600"/>
          </a:xfrm>
          <a:prstGeom prst="rect">
            <a:avLst/>
          </a:prstGeom>
        </p:spPr>
      </p:pic>
      <p:sp>
        <p:nvSpPr>
          <p:cNvPr id="5" name="Text 1"/>
          <p:cNvSpPr/>
          <p:nvPr/>
        </p:nvSpPr>
        <p:spPr>
          <a:xfrm>
            <a:off x="798552" y="864870"/>
            <a:ext cx="7546896" cy="1342073"/>
          </a:xfrm>
          <a:prstGeom prst="rect">
            <a:avLst/>
          </a:prstGeom>
          <a:noFill/>
          <a:ln/>
        </p:spPr>
        <p:txBody>
          <a:bodyPr wrap="square" lIns="0" tIns="0" rIns="0" bIns="0" rtlCol="0" anchor="t"/>
          <a:lstStyle/>
          <a:p>
            <a:pPr algn="l" indent="0" marL="0">
              <a:lnSpc>
                <a:spcPts val="5250"/>
              </a:lnSpc>
              <a:buNone/>
            </a:pPr>
            <a:r>
              <a:rPr lang="en-US" sz="4200" dirty="0">
                <a:solidFill>
                  <a:srgbClr val="000000"/>
                </a:solidFill>
                <a:latin typeface="Source Serif 4 Semi Bold" pitchFamily="34" charset="0"/>
                <a:ea typeface="Source Serif 4 Semi Bold" pitchFamily="34" charset="-122"/>
                <a:cs typeface="Source Serif 4 Semi Bold" pitchFamily="34" charset="-120"/>
              </a:rPr>
              <a:t>Uniflow: Academic Collaboration Platform</a:t>
            </a:r>
            <a:endParaRPr lang="en-US" sz="4200" dirty="0"/>
          </a:p>
        </p:txBody>
      </p:sp>
      <p:sp>
        <p:nvSpPr>
          <p:cNvPr id="6" name="Text 2"/>
          <p:cNvSpPr/>
          <p:nvPr/>
        </p:nvSpPr>
        <p:spPr>
          <a:xfrm>
            <a:off x="798552" y="2533174"/>
            <a:ext cx="7546896" cy="1425416"/>
          </a:xfrm>
          <a:prstGeom prst="rect">
            <a:avLst/>
          </a:prstGeom>
          <a:noFill/>
          <a:ln/>
        </p:spPr>
        <p:txBody>
          <a:bodyPr wrap="square" lIns="0" tIns="0" rIns="0" bIns="0" rtlCol="0" anchor="t"/>
          <a:lstStyle/>
          <a:p>
            <a:pPr algn="l" indent="0" marL="0">
              <a:lnSpc>
                <a:spcPts val="2800"/>
              </a:lnSpc>
              <a:buNone/>
            </a:pPr>
            <a:r>
              <a:rPr lang="en-US" sz="1750" dirty="0">
                <a:solidFill>
                  <a:srgbClr val="272525"/>
                </a:solidFill>
                <a:latin typeface="Source Sans 3" pitchFamily="34" charset="0"/>
                <a:ea typeface="Source Sans 3" pitchFamily="34" charset="-122"/>
                <a:cs typeface="Source Sans 3" pitchFamily="34" charset="-120"/>
              </a:rPr>
              <a:t>Uniflow is designed as a centralized platform to foster dynamic collaboration, resource sharing, and engaging gamified learning experiences for university students and teachers. Our goal is to transform traditional academic interactions into an intuitive and rewarding digital journey.</a:t>
            </a:r>
            <a:endParaRPr lang="en-US" sz="1750" dirty="0"/>
          </a:p>
        </p:txBody>
      </p:sp>
      <p:sp>
        <p:nvSpPr>
          <p:cNvPr id="7" name="Shape 3"/>
          <p:cNvSpPr/>
          <p:nvPr/>
        </p:nvSpPr>
        <p:spPr>
          <a:xfrm>
            <a:off x="798552" y="4203263"/>
            <a:ext cx="3664744" cy="1650206"/>
          </a:xfrm>
          <a:prstGeom prst="roundRect">
            <a:avLst>
              <a:gd name="adj" fmla="val 5808"/>
            </a:avLst>
          </a:prstGeom>
          <a:solidFill>
            <a:srgbClr val="F0D4F7"/>
          </a:solidFill>
          <a:ln w="7620">
            <a:solidFill>
              <a:srgbClr val="D6BADD"/>
            </a:solidFill>
            <a:prstDash val="solid"/>
          </a:ln>
        </p:spPr>
      </p:sp>
      <p:sp>
        <p:nvSpPr>
          <p:cNvPr id="8" name="Text 4"/>
          <p:cNvSpPr/>
          <p:nvPr/>
        </p:nvSpPr>
        <p:spPr>
          <a:xfrm>
            <a:off x="1034296" y="4439007"/>
            <a:ext cx="2684502" cy="335518"/>
          </a:xfrm>
          <a:prstGeom prst="rect">
            <a:avLst/>
          </a:prstGeom>
          <a:noFill/>
          <a:ln/>
        </p:spPr>
        <p:txBody>
          <a:bodyPr wrap="none" lIns="0" tIns="0" rIns="0" bIns="0" rtlCol="0" anchor="t"/>
          <a:lstStyle/>
          <a:p>
            <a:pPr algn="l" indent="0" marL="0">
              <a:lnSpc>
                <a:spcPts val="2600"/>
              </a:lnSpc>
              <a:buNone/>
            </a:pPr>
            <a:r>
              <a:rPr lang="en-US" sz="2100" dirty="0">
                <a:solidFill>
                  <a:srgbClr val="272525"/>
                </a:solidFill>
                <a:latin typeface="Source Serif 4 Semi Bold" pitchFamily="34" charset="0"/>
                <a:ea typeface="Source Serif 4 Semi Bold" pitchFamily="34" charset="-122"/>
                <a:cs typeface="Source Serif 4 Semi Bold" pitchFamily="34" charset="-120"/>
              </a:rPr>
              <a:t>Centralized Hub</a:t>
            </a:r>
            <a:endParaRPr lang="en-US" sz="2100" dirty="0"/>
          </a:p>
        </p:txBody>
      </p:sp>
      <p:sp>
        <p:nvSpPr>
          <p:cNvPr id="9" name="Text 5"/>
          <p:cNvSpPr/>
          <p:nvPr/>
        </p:nvSpPr>
        <p:spPr>
          <a:xfrm>
            <a:off x="1034296" y="4905018"/>
            <a:ext cx="3193256" cy="712708"/>
          </a:xfrm>
          <a:prstGeom prst="rect">
            <a:avLst/>
          </a:prstGeom>
          <a:noFill/>
          <a:ln/>
        </p:spPr>
        <p:txBody>
          <a:bodyPr wrap="square" lIns="0" tIns="0" rIns="0" bIns="0" rtlCol="0" anchor="t"/>
          <a:lstStyle/>
          <a:p>
            <a:pPr algn="l" indent="0" marL="0">
              <a:lnSpc>
                <a:spcPts val="2800"/>
              </a:lnSpc>
              <a:buNone/>
            </a:pPr>
            <a:r>
              <a:rPr lang="en-US" sz="1750" dirty="0">
                <a:solidFill>
                  <a:srgbClr val="272525"/>
                </a:solidFill>
                <a:latin typeface="Source Sans 3" pitchFamily="34" charset="0"/>
                <a:ea typeface="Source Sans 3" pitchFamily="34" charset="-122"/>
                <a:cs typeface="Source Sans 3" pitchFamily="34" charset="-120"/>
              </a:rPr>
              <a:t>Seamlessly integrate all academic activities.</a:t>
            </a:r>
            <a:endParaRPr lang="en-US" sz="1750" dirty="0"/>
          </a:p>
        </p:txBody>
      </p:sp>
      <p:sp>
        <p:nvSpPr>
          <p:cNvPr id="10" name="Shape 6"/>
          <p:cNvSpPr/>
          <p:nvPr/>
        </p:nvSpPr>
        <p:spPr>
          <a:xfrm>
            <a:off x="4680704" y="4203263"/>
            <a:ext cx="3664744" cy="1650206"/>
          </a:xfrm>
          <a:prstGeom prst="roundRect">
            <a:avLst>
              <a:gd name="adj" fmla="val 5808"/>
            </a:avLst>
          </a:prstGeom>
          <a:solidFill>
            <a:srgbClr val="F0D4F7"/>
          </a:solidFill>
          <a:ln w="7620">
            <a:solidFill>
              <a:srgbClr val="D6BADD"/>
            </a:solidFill>
            <a:prstDash val="solid"/>
          </a:ln>
        </p:spPr>
      </p:sp>
      <p:sp>
        <p:nvSpPr>
          <p:cNvPr id="11" name="Text 7"/>
          <p:cNvSpPr/>
          <p:nvPr/>
        </p:nvSpPr>
        <p:spPr>
          <a:xfrm>
            <a:off x="4916448" y="4439007"/>
            <a:ext cx="2684502" cy="335518"/>
          </a:xfrm>
          <a:prstGeom prst="rect">
            <a:avLst/>
          </a:prstGeom>
          <a:noFill/>
          <a:ln/>
        </p:spPr>
        <p:txBody>
          <a:bodyPr wrap="none" lIns="0" tIns="0" rIns="0" bIns="0" rtlCol="0" anchor="t"/>
          <a:lstStyle/>
          <a:p>
            <a:pPr algn="l" indent="0" marL="0">
              <a:lnSpc>
                <a:spcPts val="2600"/>
              </a:lnSpc>
              <a:buNone/>
            </a:pPr>
            <a:r>
              <a:rPr lang="en-US" sz="2100" dirty="0">
                <a:solidFill>
                  <a:srgbClr val="272525"/>
                </a:solidFill>
                <a:latin typeface="Source Serif 4 Semi Bold" pitchFamily="34" charset="0"/>
                <a:ea typeface="Source Serif 4 Semi Bold" pitchFamily="34" charset="-122"/>
                <a:cs typeface="Source Serif 4 Semi Bold" pitchFamily="34" charset="-120"/>
              </a:rPr>
              <a:t>Key Features</a:t>
            </a:r>
            <a:endParaRPr lang="en-US" sz="2100" dirty="0"/>
          </a:p>
        </p:txBody>
      </p:sp>
      <p:sp>
        <p:nvSpPr>
          <p:cNvPr id="12" name="Text 8"/>
          <p:cNvSpPr/>
          <p:nvPr/>
        </p:nvSpPr>
        <p:spPr>
          <a:xfrm>
            <a:off x="4916448" y="4905018"/>
            <a:ext cx="3193256" cy="712708"/>
          </a:xfrm>
          <a:prstGeom prst="rect">
            <a:avLst/>
          </a:prstGeom>
          <a:noFill/>
          <a:ln/>
        </p:spPr>
        <p:txBody>
          <a:bodyPr wrap="square" lIns="0" tIns="0" rIns="0" bIns="0" rtlCol="0" anchor="t"/>
          <a:lstStyle/>
          <a:p>
            <a:pPr algn="l" indent="0" marL="0">
              <a:lnSpc>
                <a:spcPts val="2800"/>
              </a:lnSpc>
              <a:buNone/>
            </a:pPr>
            <a:r>
              <a:rPr lang="en-US" sz="1750" dirty="0">
                <a:solidFill>
                  <a:srgbClr val="272525"/>
                </a:solidFill>
                <a:latin typeface="Source Sans 3" pitchFamily="34" charset="0"/>
                <a:ea typeface="Source Sans 3" pitchFamily="34" charset="-122"/>
                <a:cs typeface="Source Sans 3" pitchFamily="34" charset="-120"/>
              </a:rPr>
              <a:t>Course management, notes, and gamification.</a:t>
            </a:r>
            <a:endParaRPr lang="en-US" sz="1750" dirty="0"/>
          </a:p>
        </p:txBody>
      </p:sp>
      <p:sp>
        <p:nvSpPr>
          <p:cNvPr id="13" name="Shape 9"/>
          <p:cNvSpPr/>
          <p:nvPr/>
        </p:nvSpPr>
        <p:spPr>
          <a:xfrm>
            <a:off x="798552" y="6070878"/>
            <a:ext cx="7546896" cy="1293852"/>
          </a:xfrm>
          <a:prstGeom prst="roundRect">
            <a:avLst>
              <a:gd name="adj" fmla="val 7407"/>
            </a:avLst>
          </a:prstGeom>
          <a:solidFill>
            <a:srgbClr val="F0D4F7"/>
          </a:solidFill>
          <a:ln w="7620">
            <a:solidFill>
              <a:srgbClr val="D6BADD"/>
            </a:solidFill>
            <a:prstDash val="solid"/>
          </a:ln>
        </p:spPr>
      </p:sp>
      <p:sp>
        <p:nvSpPr>
          <p:cNvPr id="14" name="Text 10"/>
          <p:cNvSpPr/>
          <p:nvPr/>
        </p:nvSpPr>
        <p:spPr>
          <a:xfrm>
            <a:off x="1034296" y="6306622"/>
            <a:ext cx="2684502" cy="335518"/>
          </a:xfrm>
          <a:prstGeom prst="rect">
            <a:avLst/>
          </a:prstGeom>
          <a:noFill/>
          <a:ln/>
        </p:spPr>
        <p:txBody>
          <a:bodyPr wrap="none" lIns="0" tIns="0" rIns="0" bIns="0" rtlCol="0" anchor="t"/>
          <a:lstStyle/>
          <a:p>
            <a:pPr algn="l" indent="0" marL="0">
              <a:lnSpc>
                <a:spcPts val="2600"/>
              </a:lnSpc>
              <a:buNone/>
            </a:pPr>
            <a:r>
              <a:rPr lang="en-US" sz="2100" dirty="0">
                <a:solidFill>
                  <a:srgbClr val="272525"/>
                </a:solidFill>
                <a:latin typeface="Source Serif 4 Semi Bold" pitchFamily="34" charset="0"/>
                <a:ea typeface="Source Serif 4 Semi Bold" pitchFamily="34" charset="-122"/>
                <a:cs typeface="Source Serif 4 Semi Bold" pitchFamily="34" charset="-120"/>
              </a:rPr>
              <a:t>Modern Tech</a:t>
            </a:r>
            <a:endParaRPr lang="en-US" sz="2100" dirty="0"/>
          </a:p>
        </p:txBody>
      </p:sp>
      <p:sp>
        <p:nvSpPr>
          <p:cNvPr id="15" name="Text 11"/>
          <p:cNvSpPr/>
          <p:nvPr/>
        </p:nvSpPr>
        <p:spPr>
          <a:xfrm>
            <a:off x="1034296" y="6772632"/>
            <a:ext cx="7075408" cy="356354"/>
          </a:xfrm>
          <a:prstGeom prst="rect">
            <a:avLst/>
          </a:prstGeom>
          <a:noFill/>
          <a:ln/>
        </p:spPr>
        <p:txBody>
          <a:bodyPr wrap="none" lIns="0" tIns="0" rIns="0" bIns="0" rtlCol="0" anchor="t"/>
          <a:lstStyle/>
          <a:p>
            <a:pPr algn="l" indent="0" marL="0">
              <a:lnSpc>
                <a:spcPts val="2800"/>
              </a:lnSpc>
              <a:buNone/>
            </a:pPr>
            <a:r>
              <a:rPr lang="en-US" sz="1750" dirty="0">
                <a:solidFill>
                  <a:srgbClr val="272525"/>
                </a:solidFill>
                <a:latin typeface="Source Sans 3" pitchFamily="34" charset="0"/>
                <a:ea typeface="Source Sans 3" pitchFamily="34" charset="-122"/>
                <a:cs typeface="Source Sans 3" pitchFamily="34" charset="-120"/>
              </a:rPr>
              <a:t>Built with .NET 8 (Razor Pages) and SQL Server.</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961436" y="1313617"/>
            <a:ext cx="5042773" cy="484823"/>
          </a:xfrm>
          <a:prstGeom prst="rect">
            <a:avLst/>
          </a:prstGeom>
          <a:noFill/>
          <a:ln/>
        </p:spPr>
        <p:txBody>
          <a:bodyPr wrap="none" lIns="0" tIns="0" rIns="0" bIns="0" rtlCol="0" anchor="t"/>
          <a:lstStyle/>
          <a:p>
            <a:pPr algn="l" indent="0" marL="0">
              <a:lnSpc>
                <a:spcPts val="3800"/>
              </a:lnSpc>
              <a:buNone/>
            </a:pPr>
            <a:r>
              <a:rPr lang="en-US" sz="3050" dirty="0">
                <a:solidFill>
                  <a:srgbClr val="000000"/>
                </a:solidFill>
                <a:latin typeface="Source Serif 4 Semi Bold" pitchFamily="34" charset="0"/>
                <a:ea typeface="Source Serif 4 Semi Bold" pitchFamily="34" charset="-122"/>
                <a:cs typeface="Source Serif 4 Semi Bold" pitchFamily="34" charset="-120"/>
              </a:rPr>
              <a:t>Secure Access &amp; User Roles</a:t>
            </a:r>
            <a:endParaRPr lang="en-US" sz="3050" dirty="0"/>
          </a:p>
        </p:txBody>
      </p:sp>
      <p:sp>
        <p:nvSpPr>
          <p:cNvPr id="3" name="Text 1"/>
          <p:cNvSpPr/>
          <p:nvPr/>
        </p:nvSpPr>
        <p:spPr>
          <a:xfrm>
            <a:off x="1961436" y="2082165"/>
            <a:ext cx="3207663" cy="387906"/>
          </a:xfrm>
          <a:prstGeom prst="rect">
            <a:avLst/>
          </a:prstGeom>
          <a:noFill/>
          <a:ln/>
        </p:spPr>
        <p:txBody>
          <a:bodyPr wrap="none" lIns="0" tIns="0" rIns="0" bIns="0" rtlCol="0" anchor="t"/>
          <a:lstStyle/>
          <a:p>
            <a:pPr algn="l" indent="0" marL="0">
              <a:lnSpc>
                <a:spcPts val="3050"/>
              </a:lnSpc>
              <a:buNone/>
            </a:pPr>
            <a:r>
              <a:rPr lang="en-US" sz="2400" dirty="0">
                <a:solidFill>
                  <a:srgbClr val="000000"/>
                </a:solidFill>
                <a:latin typeface="Source Serif 4 Semi Bold" pitchFamily="34" charset="0"/>
                <a:ea typeface="Source Serif 4 Semi Bold" pitchFamily="34" charset="-122"/>
                <a:cs typeface="Source Serif 4 Semi Bold" pitchFamily="34" charset="-120"/>
              </a:rPr>
              <a:t>Identity Management</a:t>
            </a:r>
            <a:endParaRPr lang="en-US" sz="2400" dirty="0"/>
          </a:p>
        </p:txBody>
      </p:sp>
      <p:sp>
        <p:nvSpPr>
          <p:cNvPr id="4" name="Text 2"/>
          <p:cNvSpPr/>
          <p:nvPr/>
        </p:nvSpPr>
        <p:spPr>
          <a:xfrm>
            <a:off x="1961436" y="2583537"/>
            <a:ext cx="3486150" cy="1113830"/>
          </a:xfrm>
          <a:prstGeom prst="rect">
            <a:avLst/>
          </a:prstGeom>
          <a:noFill/>
          <a:ln/>
        </p:spPr>
        <p:txBody>
          <a:bodyPr wrap="square" lIns="0" tIns="0" rIns="0" bIns="0" rtlCol="0" anchor="t"/>
          <a:lstStyle/>
          <a:p>
            <a:pPr algn="l" indent="0" marL="0">
              <a:lnSpc>
                <a:spcPts val="1750"/>
              </a:lnSpc>
              <a:buNone/>
            </a:pPr>
            <a:r>
              <a:rPr lang="en-US" sz="1250" dirty="0">
                <a:solidFill>
                  <a:srgbClr val="272525"/>
                </a:solidFill>
                <a:latin typeface="Source Sans 3" pitchFamily="34" charset="0"/>
                <a:ea typeface="Source Sans 3" pitchFamily="34" charset="-122"/>
                <a:cs typeface="Source Sans 3" pitchFamily="34" charset="-120"/>
              </a:rPr>
              <a:t>Uniflow ensures secure access through a robust identity system powered by ASP.NET Core Identity. This provides reliable login and registration processes, protecting user data and maintaining platform integrity.</a:t>
            </a:r>
            <a:endParaRPr lang="en-US" sz="1250" dirty="0"/>
          </a:p>
        </p:txBody>
      </p:sp>
      <p:sp>
        <p:nvSpPr>
          <p:cNvPr id="5" name="Text 3"/>
          <p:cNvSpPr/>
          <p:nvPr/>
        </p:nvSpPr>
        <p:spPr>
          <a:xfrm>
            <a:off x="1961436" y="3799523"/>
            <a:ext cx="3486150" cy="445512"/>
          </a:xfrm>
          <a:prstGeom prst="rect">
            <a:avLst/>
          </a:prstGeom>
          <a:noFill/>
          <a:ln/>
        </p:spPr>
        <p:txBody>
          <a:bodyPr wrap="square" lIns="0" tIns="0" rIns="0" bIns="0" rtlCol="0" anchor="t"/>
          <a:lstStyle/>
          <a:p>
            <a:pPr algn="l" marL="342900" indent="-342900">
              <a:lnSpc>
                <a:spcPts val="1750"/>
              </a:lnSpc>
              <a:buSzPct val="100000"/>
              <a:buChar char="•"/>
            </a:pPr>
            <a:r>
              <a:rPr lang="en-US" sz="1250" dirty="0">
                <a:solidFill>
                  <a:srgbClr val="272525"/>
                </a:solidFill>
                <a:latin typeface="Source Sans 3" pitchFamily="34" charset="0"/>
                <a:ea typeface="Source Sans 3" pitchFamily="34" charset="-122"/>
                <a:cs typeface="Source Sans 3" pitchFamily="34" charset="-120"/>
              </a:rPr>
              <a:t>Secure Login &amp; Registration</a:t>
            </a:r>
            <a:endParaRPr lang="en-US" sz="1250" dirty="0"/>
          </a:p>
          <a:p>
            <a:pPr algn="l" marL="342900" indent="-342900">
              <a:lnSpc>
                <a:spcPts val="1750"/>
              </a:lnSpc>
              <a:buSzPct val="100000"/>
              <a:buChar char="•"/>
            </a:pPr>
            <a:r>
              <a:rPr lang="en-US" sz="1250" dirty="0">
                <a:solidFill>
                  <a:srgbClr val="272525"/>
                </a:solidFill>
                <a:latin typeface="Source Sans 3" pitchFamily="34" charset="0"/>
                <a:ea typeface="Source Sans 3" pitchFamily="34" charset="-122"/>
                <a:cs typeface="Source Sans 3" pitchFamily="34" charset="-120"/>
              </a:rPr>
              <a:t>Data Protection &amp; Privacy</a:t>
            </a:r>
            <a:endParaRPr lang="en-US" sz="1250" dirty="0"/>
          </a:p>
        </p:txBody>
      </p:sp>
      <p:sp>
        <p:nvSpPr>
          <p:cNvPr id="6" name="Shape 4"/>
          <p:cNvSpPr/>
          <p:nvPr/>
        </p:nvSpPr>
        <p:spPr>
          <a:xfrm>
            <a:off x="7782997" y="2322076"/>
            <a:ext cx="2967752" cy="1648777"/>
          </a:xfrm>
          <a:prstGeom prst="roundRect">
            <a:avLst>
              <a:gd name="adj" fmla="val 4200"/>
            </a:avLst>
          </a:prstGeom>
          <a:solidFill>
            <a:srgbClr val="DFDFE0"/>
          </a:solidFill>
          <a:ln/>
        </p:spPr>
      </p:sp>
      <p:pic>
        <p:nvPicPr>
          <p:cNvPr id="7" name="Image 0" descr="preencoded.png">    </p:cNvPr>
          <p:cNvPicPr>
            <a:picLocks noChangeAspect="1"/>
          </p:cNvPicPr>
          <p:nvPr/>
        </p:nvPicPr>
        <p:blipFill>
          <a:blip r:embed="rId1"/>
          <a:stretch>
            <a:fillRect/>
          </a:stretch>
        </p:blipFill>
        <p:spPr>
          <a:xfrm>
            <a:off x="9152573" y="2925723"/>
            <a:ext cx="228600" cy="228600"/>
          </a:xfrm>
          <a:prstGeom prst="rect">
            <a:avLst/>
          </a:prstGeom>
        </p:spPr>
      </p:pic>
      <p:sp>
        <p:nvSpPr>
          <p:cNvPr id="8" name="Text 5"/>
          <p:cNvSpPr/>
          <p:nvPr/>
        </p:nvSpPr>
        <p:spPr>
          <a:xfrm>
            <a:off x="8362712" y="3243977"/>
            <a:ext cx="1808321" cy="144066"/>
          </a:xfrm>
          <a:prstGeom prst="rect">
            <a:avLst/>
          </a:prstGeom>
          <a:noFill/>
          <a:ln/>
        </p:spPr>
        <p:txBody>
          <a:bodyPr wrap="none" lIns="0" tIns="0" rIns="0" bIns="0" rtlCol="0" anchor="t"/>
          <a:lstStyle/>
          <a:p>
            <a:pPr algn="ctr" indent="0" marL="0">
              <a:lnSpc>
                <a:spcPts val="1100"/>
              </a:lnSpc>
              <a:buNone/>
            </a:pPr>
            <a:r>
              <a:rPr lang="en-US" sz="800" dirty="0">
                <a:solidFill>
                  <a:srgbClr val="AEAEB2"/>
                </a:solidFill>
                <a:latin typeface="Source Sans 3" pitchFamily="34" charset="0"/>
                <a:ea typeface="Source Sans 3" pitchFamily="34" charset="-122"/>
                <a:cs typeface="Source Sans 3" pitchFamily="34" charset="-120"/>
              </a:rPr>
              <a:t>There was an error generating this image</a:t>
            </a:r>
            <a:endParaRPr lang="en-US" sz="800" dirty="0"/>
          </a:p>
        </p:txBody>
      </p:sp>
      <p:sp>
        <p:nvSpPr>
          <p:cNvPr id="9" name="Text 6"/>
          <p:cNvSpPr/>
          <p:nvPr/>
        </p:nvSpPr>
        <p:spPr>
          <a:xfrm>
            <a:off x="2208728" y="4582696"/>
            <a:ext cx="3815001" cy="290870"/>
          </a:xfrm>
          <a:prstGeom prst="rect">
            <a:avLst/>
          </a:prstGeom>
          <a:noFill/>
          <a:ln/>
        </p:spPr>
        <p:txBody>
          <a:bodyPr wrap="none" lIns="0" tIns="0" rIns="0" bIns="0" rtlCol="0" anchor="t"/>
          <a:lstStyle/>
          <a:p>
            <a:pPr algn="l" indent="0" marL="0">
              <a:lnSpc>
                <a:spcPts val="2250"/>
              </a:lnSpc>
              <a:buNone/>
            </a:pPr>
            <a:r>
              <a:rPr lang="en-US" sz="1800" dirty="0">
                <a:solidFill>
                  <a:srgbClr val="000000"/>
                </a:solidFill>
                <a:latin typeface="Source Serif 4 Semi Bold" pitchFamily="34" charset="0"/>
                <a:ea typeface="Source Serif 4 Semi Bold" pitchFamily="34" charset="-122"/>
                <a:cs typeface="Source Serif 4 Semi Bold" pitchFamily="34" charset="-120"/>
              </a:rPr>
              <a:t>Role-Based Access Control (RBAC)</a:t>
            </a:r>
            <a:endParaRPr lang="en-US" sz="1800" dirty="0"/>
          </a:p>
        </p:txBody>
      </p:sp>
      <p:sp>
        <p:nvSpPr>
          <p:cNvPr id="10" name="Text 7"/>
          <p:cNvSpPr/>
          <p:nvPr/>
        </p:nvSpPr>
        <p:spPr>
          <a:xfrm>
            <a:off x="2208728" y="5043825"/>
            <a:ext cx="10460117" cy="222766"/>
          </a:xfrm>
          <a:prstGeom prst="rect">
            <a:avLst/>
          </a:prstGeom>
          <a:noFill/>
          <a:ln/>
        </p:spPr>
        <p:txBody>
          <a:bodyPr wrap="none" lIns="0" tIns="0" rIns="0" bIns="0" rtlCol="0" anchor="t"/>
          <a:lstStyle/>
          <a:p>
            <a:pPr algn="l" indent="0" marL="0">
              <a:lnSpc>
                <a:spcPts val="1750"/>
              </a:lnSpc>
              <a:buNone/>
            </a:pPr>
            <a:r>
              <a:rPr lang="en-US" sz="1250" dirty="0">
                <a:solidFill>
                  <a:srgbClr val="272525"/>
                </a:solidFill>
                <a:latin typeface="Source Sans 3" pitchFamily="34" charset="0"/>
                <a:ea typeface="Source Sans 3" pitchFamily="34" charset="-122"/>
                <a:cs typeface="Source Sans 3" pitchFamily="34" charset="-120"/>
              </a:rPr>
              <a:t>Uniflow implements a granular RBAC system, tailoring permissions and functionalities to specific user types:</a:t>
            </a:r>
            <a:endParaRPr lang="en-US" sz="1250" dirty="0"/>
          </a:p>
        </p:txBody>
      </p:sp>
      <p:sp>
        <p:nvSpPr>
          <p:cNvPr id="11" name="Shape 8"/>
          <p:cNvSpPr/>
          <p:nvPr/>
        </p:nvSpPr>
        <p:spPr>
          <a:xfrm>
            <a:off x="1961436" y="4412437"/>
            <a:ext cx="22860" cy="981908"/>
          </a:xfrm>
          <a:prstGeom prst="rect">
            <a:avLst/>
          </a:prstGeom>
          <a:solidFill>
            <a:srgbClr val="BE49DF"/>
          </a:solidFill>
          <a:ln/>
        </p:spPr>
      </p:sp>
      <p:sp>
        <p:nvSpPr>
          <p:cNvPr id="12" name="Shape 9"/>
          <p:cNvSpPr/>
          <p:nvPr/>
        </p:nvSpPr>
        <p:spPr>
          <a:xfrm>
            <a:off x="1961436" y="5522099"/>
            <a:ext cx="3493413" cy="1354098"/>
          </a:xfrm>
          <a:prstGeom prst="roundRect">
            <a:avLst>
              <a:gd name="adj" fmla="val 8103"/>
            </a:avLst>
          </a:prstGeom>
          <a:solidFill>
            <a:srgbClr val="FFFFFF">
              <a:alpha val="95000"/>
            </a:srgbClr>
          </a:solidFill>
          <a:ln w="22860">
            <a:solidFill>
              <a:srgbClr val="D6BADD"/>
            </a:solidFill>
            <a:prstDash val="solid"/>
          </a:ln>
        </p:spPr>
      </p:sp>
      <p:sp>
        <p:nvSpPr>
          <p:cNvPr id="13" name="Shape 10"/>
          <p:cNvSpPr/>
          <p:nvPr/>
        </p:nvSpPr>
        <p:spPr>
          <a:xfrm>
            <a:off x="1938576" y="5522099"/>
            <a:ext cx="91440" cy="1354098"/>
          </a:xfrm>
          <a:prstGeom prst="roundRect">
            <a:avLst>
              <a:gd name="adj" fmla="val 75732"/>
            </a:avLst>
          </a:prstGeom>
          <a:solidFill>
            <a:srgbClr val="BE49DF"/>
          </a:solidFill>
          <a:ln/>
        </p:spPr>
      </p:sp>
      <p:sp>
        <p:nvSpPr>
          <p:cNvPr id="14" name="Text 11"/>
          <p:cNvSpPr/>
          <p:nvPr/>
        </p:nvSpPr>
        <p:spPr>
          <a:xfrm>
            <a:off x="2217658" y="5709742"/>
            <a:ext cx="1939647" cy="242411"/>
          </a:xfrm>
          <a:prstGeom prst="rect">
            <a:avLst/>
          </a:prstGeom>
          <a:noFill/>
          <a:ln/>
        </p:spPr>
        <p:txBody>
          <a:bodyPr wrap="none" lIns="0" tIns="0" rIns="0" bIns="0" rtlCol="0" anchor="t"/>
          <a:lstStyle/>
          <a:p>
            <a:pPr algn="l" indent="0" marL="0">
              <a:lnSpc>
                <a:spcPts val="1900"/>
              </a:lnSpc>
              <a:buNone/>
            </a:pPr>
            <a:r>
              <a:rPr lang="en-US" sz="1500" dirty="0">
                <a:solidFill>
                  <a:srgbClr val="272525"/>
                </a:solidFill>
                <a:latin typeface="Source Serif 4 Semi Bold" pitchFamily="34" charset="0"/>
                <a:ea typeface="Source Serif 4 Semi Bold" pitchFamily="34" charset="-122"/>
                <a:cs typeface="Source Serif 4 Semi Bold" pitchFamily="34" charset="-120"/>
              </a:rPr>
              <a:t>Students</a:t>
            </a:r>
            <a:endParaRPr lang="en-US" sz="1500" dirty="0"/>
          </a:p>
        </p:txBody>
      </p:sp>
      <p:sp>
        <p:nvSpPr>
          <p:cNvPr id="15" name="Text 12"/>
          <p:cNvSpPr/>
          <p:nvPr/>
        </p:nvSpPr>
        <p:spPr>
          <a:xfrm>
            <a:off x="2217658" y="6020257"/>
            <a:ext cx="3049548" cy="445532"/>
          </a:xfrm>
          <a:prstGeom prst="rect">
            <a:avLst/>
          </a:prstGeom>
          <a:noFill/>
          <a:ln/>
        </p:spPr>
        <p:txBody>
          <a:bodyPr wrap="square" lIns="0" tIns="0" rIns="0" bIns="0" rtlCol="0" anchor="t"/>
          <a:lstStyle/>
          <a:p>
            <a:pPr algn="l" indent="0" marL="0">
              <a:lnSpc>
                <a:spcPts val="1750"/>
              </a:lnSpc>
              <a:buNone/>
            </a:pPr>
            <a:r>
              <a:rPr lang="en-US" sz="1250" dirty="0">
                <a:solidFill>
                  <a:srgbClr val="272525"/>
                </a:solidFill>
                <a:latin typeface="Source Sans 3" pitchFamily="34" charset="0"/>
                <a:ea typeface="Source Sans 3" pitchFamily="34" charset="-122"/>
                <a:cs typeface="Source Sans 3" pitchFamily="34" charset="-120"/>
              </a:rPr>
              <a:t>Access courses, participate in activities, earn XP, and redeem valuable vouchers.</a:t>
            </a:r>
            <a:endParaRPr lang="en-US" sz="1250" dirty="0"/>
          </a:p>
        </p:txBody>
      </p:sp>
      <p:sp>
        <p:nvSpPr>
          <p:cNvPr id="16" name="Shape 13"/>
          <p:cNvSpPr/>
          <p:nvPr/>
        </p:nvSpPr>
        <p:spPr>
          <a:xfrm>
            <a:off x="5568315" y="5522099"/>
            <a:ext cx="3493532" cy="1354098"/>
          </a:xfrm>
          <a:prstGeom prst="roundRect">
            <a:avLst>
              <a:gd name="adj" fmla="val 8103"/>
            </a:avLst>
          </a:prstGeom>
          <a:solidFill>
            <a:srgbClr val="FFFFFF">
              <a:alpha val="95000"/>
            </a:srgbClr>
          </a:solidFill>
          <a:ln w="22860">
            <a:solidFill>
              <a:srgbClr val="D6BADD"/>
            </a:solidFill>
            <a:prstDash val="solid"/>
          </a:ln>
        </p:spPr>
      </p:sp>
      <p:sp>
        <p:nvSpPr>
          <p:cNvPr id="17" name="Shape 14"/>
          <p:cNvSpPr/>
          <p:nvPr/>
        </p:nvSpPr>
        <p:spPr>
          <a:xfrm>
            <a:off x="5545455" y="5522099"/>
            <a:ext cx="91440" cy="1354098"/>
          </a:xfrm>
          <a:prstGeom prst="roundRect">
            <a:avLst>
              <a:gd name="adj" fmla="val 75732"/>
            </a:avLst>
          </a:prstGeom>
          <a:solidFill>
            <a:srgbClr val="BE49DF"/>
          </a:solidFill>
          <a:ln/>
        </p:spPr>
      </p:sp>
      <p:sp>
        <p:nvSpPr>
          <p:cNvPr id="18" name="Text 15"/>
          <p:cNvSpPr/>
          <p:nvPr/>
        </p:nvSpPr>
        <p:spPr>
          <a:xfrm>
            <a:off x="5824537" y="5709742"/>
            <a:ext cx="1939647" cy="242411"/>
          </a:xfrm>
          <a:prstGeom prst="rect">
            <a:avLst/>
          </a:prstGeom>
          <a:noFill/>
          <a:ln/>
        </p:spPr>
        <p:txBody>
          <a:bodyPr wrap="none" lIns="0" tIns="0" rIns="0" bIns="0" rtlCol="0" anchor="t"/>
          <a:lstStyle/>
          <a:p>
            <a:pPr algn="l" indent="0" marL="0">
              <a:lnSpc>
                <a:spcPts val="1900"/>
              </a:lnSpc>
              <a:buNone/>
            </a:pPr>
            <a:r>
              <a:rPr lang="en-US" sz="1500" dirty="0">
                <a:solidFill>
                  <a:srgbClr val="272525"/>
                </a:solidFill>
                <a:latin typeface="Source Serif 4 Semi Bold" pitchFamily="34" charset="0"/>
                <a:ea typeface="Source Serif 4 Semi Bold" pitchFamily="34" charset="-122"/>
                <a:cs typeface="Source Serif 4 Semi Bold" pitchFamily="34" charset="-120"/>
              </a:rPr>
              <a:t>Teachers</a:t>
            </a:r>
            <a:endParaRPr lang="en-US" sz="1500" dirty="0"/>
          </a:p>
        </p:txBody>
      </p:sp>
      <p:sp>
        <p:nvSpPr>
          <p:cNvPr id="19" name="Text 16"/>
          <p:cNvSpPr/>
          <p:nvPr/>
        </p:nvSpPr>
        <p:spPr>
          <a:xfrm>
            <a:off x="5824537" y="6020257"/>
            <a:ext cx="3049667" cy="668298"/>
          </a:xfrm>
          <a:prstGeom prst="rect">
            <a:avLst/>
          </a:prstGeom>
          <a:noFill/>
          <a:ln/>
        </p:spPr>
        <p:txBody>
          <a:bodyPr wrap="square" lIns="0" tIns="0" rIns="0" bIns="0" rtlCol="0" anchor="t"/>
          <a:lstStyle/>
          <a:p>
            <a:pPr algn="l" indent="0" marL="0">
              <a:lnSpc>
                <a:spcPts val="1750"/>
              </a:lnSpc>
              <a:buNone/>
            </a:pPr>
            <a:r>
              <a:rPr lang="en-US" sz="1250" dirty="0">
                <a:solidFill>
                  <a:srgbClr val="272525"/>
                </a:solidFill>
                <a:latin typeface="Source Sans 3" pitchFamily="34" charset="0"/>
                <a:ea typeface="Source Sans 3" pitchFamily="34" charset="-122"/>
                <a:cs typeface="Source Sans 3" pitchFamily="34" charset="-120"/>
              </a:rPr>
              <a:t>Create and manage courses, post announcements, and approve student-contributed notes.</a:t>
            </a:r>
            <a:endParaRPr lang="en-US" sz="1250" dirty="0"/>
          </a:p>
        </p:txBody>
      </p:sp>
      <p:sp>
        <p:nvSpPr>
          <p:cNvPr id="20" name="Shape 17"/>
          <p:cNvSpPr/>
          <p:nvPr/>
        </p:nvSpPr>
        <p:spPr>
          <a:xfrm>
            <a:off x="9175313" y="5522099"/>
            <a:ext cx="3493532" cy="1354098"/>
          </a:xfrm>
          <a:prstGeom prst="roundRect">
            <a:avLst>
              <a:gd name="adj" fmla="val 8103"/>
            </a:avLst>
          </a:prstGeom>
          <a:solidFill>
            <a:srgbClr val="FFFFFF">
              <a:alpha val="95000"/>
            </a:srgbClr>
          </a:solidFill>
          <a:ln w="22860">
            <a:solidFill>
              <a:srgbClr val="D6BADD"/>
            </a:solidFill>
            <a:prstDash val="solid"/>
          </a:ln>
        </p:spPr>
      </p:sp>
      <p:sp>
        <p:nvSpPr>
          <p:cNvPr id="21" name="Shape 18"/>
          <p:cNvSpPr/>
          <p:nvPr/>
        </p:nvSpPr>
        <p:spPr>
          <a:xfrm>
            <a:off x="9152453" y="5522099"/>
            <a:ext cx="91440" cy="1354098"/>
          </a:xfrm>
          <a:prstGeom prst="roundRect">
            <a:avLst>
              <a:gd name="adj" fmla="val 75732"/>
            </a:avLst>
          </a:prstGeom>
          <a:solidFill>
            <a:srgbClr val="BE49DF"/>
          </a:solidFill>
          <a:ln/>
        </p:spPr>
      </p:sp>
      <p:sp>
        <p:nvSpPr>
          <p:cNvPr id="22" name="Text 19"/>
          <p:cNvSpPr/>
          <p:nvPr/>
        </p:nvSpPr>
        <p:spPr>
          <a:xfrm>
            <a:off x="9431536" y="5709742"/>
            <a:ext cx="1939647" cy="242411"/>
          </a:xfrm>
          <a:prstGeom prst="rect">
            <a:avLst/>
          </a:prstGeom>
          <a:noFill/>
          <a:ln/>
        </p:spPr>
        <p:txBody>
          <a:bodyPr wrap="none" lIns="0" tIns="0" rIns="0" bIns="0" rtlCol="0" anchor="t"/>
          <a:lstStyle/>
          <a:p>
            <a:pPr algn="l" indent="0" marL="0">
              <a:lnSpc>
                <a:spcPts val="1900"/>
              </a:lnSpc>
              <a:buNone/>
            </a:pPr>
            <a:r>
              <a:rPr lang="en-US" sz="1500" dirty="0">
                <a:solidFill>
                  <a:srgbClr val="272525"/>
                </a:solidFill>
                <a:latin typeface="Source Serif 4 Semi Bold" pitchFamily="34" charset="0"/>
                <a:ea typeface="Source Serif 4 Semi Bold" pitchFamily="34" charset="-122"/>
                <a:cs typeface="Source Serif 4 Semi Bold" pitchFamily="34" charset="-120"/>
              </a:rPr>
              <a:t>Admins</a:t>
            </a:r>
            <a:endParaRPr lang="en-US" sz="1500" dirty="0"/>
          </a:p>
        </p:txBody>
      </p:sp>
      <p:sp>
        <p:nvSpPr>
          <p:cNvPr id="23" name="Text 20"/>
          <p:cNvSpPr/>
          <p:nvPr/>
        </p:nvSpPr>
        <p:spPr>
          <a:xfrm>
            <a:off x="9431536" y="6020257"/>
            <a:ext cx="3049667" cy="668298"/>
          </a:xfrm>
          <a:prstGeom prst="rect">
            <a:avLst/>
          </a:prstGeom>
          <a:noFill/>
          <a:ln/>
        </p:spPr>
        <p:txBody>
          <a:bodyPr wrap="square" lIns="0" tIns="0" rIns="0" bIns="0" rtlCol="0" anchor="t"/>
          <a:lstStyle/>
          <a:p>
            <a:pPr algn="l" indent="0" marL="0">
              <a:lnSpc>
                <a:spcPts val="1750"/>
              </a:lnSpc>
              <a:buNone/>
            </a:pPr>
            <a:r>
              <a:rPr lang="en-US" sz="1250" dirty="0">
                <a:solidFill>
                  <a:srgbClr val="272525"/>
                </a:solidFill>
                <a:latin typeface="Source Sans 3" pitchFamily="34" charset="0"/>
                <a:ea typeface="Source Sans 3" pitchFamily="34" charset="-122"/>
                <a:cs typeface="Source Sans 3" pitchFamily="34" charset="-120"/>
              </a:rPr>
              <a:t>Maintain overall platform governance, manage users, and facilitate role upgrades for staff.</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318147"/>
          </a:xfrm>
          <a:prstGeom prst="rect">
            <a:avLst/>
          </a:prstGeom>
        </p:spPr>
      </p:pic>
      <p:sp>
        <p:nvSpPr>
          <p:cNvPr id="3" name="Shape 0"/>
          <p:cNvSpPr/>
          <p:nvPr/>
        </p:nvSpPr>
        <p:spPr>
          <a:xfrm>
            <a:off x="0" y="0"/>
            <a:ext cx="14630400" cy="2318147"/>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0" y="0"/>
            <a:ext cx="14630400" cy="2318147"/>
          </a:xfrm>
          <a:prstGeom prst="rect">
            <a:avLst/>
          </a:prstGeom>
        </p:spPr>
      </p:pic>
      <p:sp>
        <p:nvSpPr>
          <p:cNvPr id="5" name="Text 1"/>
          <p:cNvSpPr/>
          <p:nvPr/>
        </p:nvSpPr>
        <p:spPr>
          <a:xfrm>
            <a:off x="1293257" y="3508296"/>
            <a:ext cx="5860971" cy="545425"/>
          </a:xfrm>
          <a:prstGeom prst="rect">
            <a:avLst/>
          </a:prstGeom>
          <a:noFill/>
          <a:ln/>
        </p:spPr>
        <p:txBody>
          <a:bodyPr wrap="none" lIns="0" tIns="0" rIns="0" bIns="0" rtlCol="0" anchor="t"/>
          <a:lstStyle/>
          <a:p>
            <a:pPr algn="l" indent="0" marL="0">
              <a:lnSpc>
                <a:spcPts val="4250"/>
              </a:lnSpc>
              <a:buNone/>
            </a:pPr>
            <a:r>
              <a:rPr lang="en-US" sz="3400" dirty="0">
                <a:solidFill>
                  <a:srgbClr val="000000"/>
                </a:solidFill>
                <a:latin typeface="Source Serif 4 Semi Bold" pitchFamily="34" charset="0"/>
                <a:ea typeface="Source Serif 4 Semi Bold" pitchFamily="34" charset="-122"/>
                <a:cs typeface="Source Serif 4 Semi Bold" pitchFamily="34" charset="-120"/>
              </a:rPr>
              <a:t>Comprehensive Course Hub</a:t>
            </a:r>
            <a:endParaRPr lang="en-US" sz="3400" dirty="0"/>
          </a:p>
        </p:txBody>
      </p:sp>
      <p:sp>
        <p:nvSpPr>
          <p:cNvPr id="6" name="Text 2"/>
          <p:cNvSpPr/>
          <p:nvPr/>
        </p:nvSpPr>
        <p:spPr>
          <a:xfrm>
            <a:off x="1293257" y="4269224"/>
            <a:ext cx="12043886" cy="263366"/>
          </a:xfrm>
          <a:prstGeom prst="rect">
            <a:avLst/>
          </a:prstGeom>
          <a:noFill/>
          <a:ln/>
        </p:spPr>
        <p:txBody>
          <a:bodyPr wrap="none" lIns="0" tIns="0" rIns="0" bIns="0" rtlCol="0" anchor="t"/>
          <a:lstStyle/>
          <a:p>
            <a:pPr algn="l" indent="0" marL="0">
              <a:lnSpc>
                <a:spcPts val="2050"/>
              </a:lnSpc>
              <a:buNone/>
            </a:pPr>
            <a:r>
              <a:rPr lang="en-US" sz="1450" dirty="0">
                <a:solidFill>
                  <a:srgbClr val="272525"/>
                </a:solidFill>
                <a:latin typeface="Source Sans 3" pitchFamily="34" charset="0"/>
                <a:ea typeface="Source Sans 3" pitchFamily="34" charset="-122"/>
                <a:cs typeface="Source Sans 3" pitchFamily="34" charset="-120"/>
              </a:rPr>
              <a:t>Uniflow's course management system provides an intuitive and organized environment for both students and teachers to navigate their academic journey.</a:t>
            </a:r>
            <a:endParaRPr lang="en-US" sz="1450" dirty="0"/>
          </a:p>
        </p:txBody>
      </p:sp>
      <p:sp>
        <p:nvSpPr>
          <p:cNvPr id="7" name="Text 3"/>
          <p:cNvSpPr/>
          <p:nvPr/>
        </p:nvSpPr>
        <p:spPr>
          <a:xfrm>
            <a:off x="1293257" y="4837748"/>
            <a:ext cx="2618184" cy="327184"/>
          </a:xfrm>
          <a:prstGeom prst="rect">
            <a:avLst/>
          </a:prstGeom>
          <a:noFill/>
          <a:ln/>
        </p:spPr>
        <p:txBody>
          <a:bodyPr wrap="none" lIns="0" tIns="0" rIns="0" bIns="0" rtlCol="0" anchor="t"/>
          <a:lstStyle/>
          <a:p>
            <a:pPr algn="l" indent="0" marL="0">
              <a:lnSpc>
                <a:spcPts val="2550"/>
              </a:lnSpc>
              <a:buNone/>
            </a:pPr>
            <a:r>
              <a:rPr lang="en-US" sz="2050" dirty="0">
                <a:solidFill>
                  <a:srgbClr val="000000"/>
                </a:solidFill>
                <a:latin typeface="Source Serif 4 Semi Bold" pitchFamily="34" charset="0"/>
                <a:ea typeface="Source Serif 4 Semi Bold" pitchFamily="34" charset="-122"/>
                <a:cs typeface="Source Serif 4 Semi Bold" pitchFamily="34" charset="-120"/>
              </a:rPr>
              <a:t>Student Experience</a:t>
            </a:r>
            <a:endParaRPr lang="en-US" sz="2050" dirty="0"/>
          </a:p>
        </p:txBody>
      </p:sp>
      <p:sp>
        <p:nvSpPr>
          <p:cNvPr id="8" name="Text 4"/>
          <p:cNvSpPr/>
          <p:nvPr/>
        </p:nvSpPr>
        <p:spPr>
          <a:xfrm>
            <a:off x="1293257" y="5308521"/>
            <a:ext cx="5795724" cy="1579896"/>
          </a:xfrm>
          <a:prstGeom prst="rect">
            <a:avLst/>
          </a:prstGeom>
          <a:noFill/>
          <a:ln/>
        </p:spPr>
        <p:txBody>
          <a:bodyPr wrap="square" lIns="0" tIns="0" rIns="0" bIns="0" rtlCol="0" anchor="t"/>
          <a:lstStyle/>
          <a:p>
            <a:pPr algn="l" marL="342900" indent="-342900">
              <a:lnSpc>
                <a:spcPts val="2050"/>
              </a:lnSpc>
              <a:buSzPct val="100000"/>
              <a:buChar char="•"/>
            </a:pPr>
            <a:r>
              <a:rPr lang="en-US" sz="1450" b="1" dirty="0">
                <a:solidFill>
                  <a:srgbClr val="272525"/>
                </a:solidFill>
                <a:latin typeface="Source Sans 3" pitchFamily="34" charset="0"/>
                <a:ea typeface="Source Sans 3" pitchFamily="34" charset="-122"/>
                <a:cs typeface="Source Sans 3" pitchFamily="34" charset="-120"/>
              </a:rPr>
              <a:t>Course Discovery:</a:t>
            </a:r>
            <a:pPr algn="l" indent="0" marL="0">
              <a:lnSpc>
                <a:spcPts val="2050"/>
              </a:lnSpc>
              <a:buNone/>
            </a:pPr>
            <a:r>
              <a:rPr lang="en-US" sz="1450" dirty="0">
                <a:solidFill>
                  <a:srgbClr val="272525"/>
                </a:solidFill>
                <a:latin typeface="Source Sans 3" pitchFamily="34" charset="0"/>
                <a:ea typeface="Source Sans 3" pitchFamily="34" charset="-122"/>
                <a:cs typeface="Source Sans 3" pitchFamily="34" charset="-120"/>
              </a:rPr>
              <a:t> Easily search and filter courses by year, semester, and category to find relevant academic content.</a:t>
            </a:r>
            <a:endParaRPr lang="en-US" sz="1450" dirty="0"/>
          </a:p>
          <a:p>
            <a:pPr algn="l" marL="342900" indent="-342900">
              <a:lnSpc>
                <a:spcPts val="2050"/>
              </a:lnSpc>
              <a:buSzPct val="100000"/>
              <a:buChar char="•"/>
            </a:pPr>
            <a:r>
              <a:rPr lang="en-US" sz="1450" b="1" dirty="0">
                <a:solidFill>
                  <a:srgbClr val="272525"/>
                </a:solidFill>
                <a:latin typeface="Source Sans 3" pitchFamily="34" charset="0"/>
                <a:ea typeface="Source Sans 3" pitchFamily="34" charset="-122"/>
                <a:cs typeface="Source Sans 3" pitchFamily="34" charset="-120"/>
              </a:rPr>
              <a:t>My Courses Dashboard:</a:t>
            </a:r>
            <a:pPr algn="l" indent="0" marL="0">
              <a:lnSpc>
                <a:spcPts val="2050"/>
              </a:lnSpc>
              <a:buNone/>
            </a:pPr>
            <a:r>
              <a:rPr lang="en-US" sz="1450" dirty="0">
                <a:solidFill>
                  <a:srgbClr val="272525"/>
                </a:solidFill>
                <a:latin typeface="Source Sans 3" pitchFamily="34" charset="0"/>
                <a:ea typeface="Source Sans 3" pitchFamily="34" charset="-122"/>
                <a:cs typeface="Source Sans 3" pitchFamily="34" charset="-120"/>
              </a:rPr>
              <a:t> A personalized view of all enrolled courses, complete with progress tracking and quick access to materials.</a:t>
            </a:r>
            <a:endParaRPr lang="en-US" sz="1450" dirty="0"/>
          </a:p>
          <a:p>
            <a:pPr algn="l" marL="342900" indent="-342900">
              <a:lnSpc>
                <a:spcPts val="2050"/>
              </a:lnSpc>
              <a:buSzPct val="100000"/>
              <a:buChar char="•"/>
            </a:pPr>
            <a:r>
              <a:rPr lang="en-US" sz="1450" b="1" dirty="0">
                <a:solidFill>
                  <a:srgbClr val="272525"/>
                </a:solidFill>
                <a:latin typeface="Source Sans 3" pitchFamily="34" charset="0"/>
                <a:ea typeface="Source Sans 3" pitchFamily="34" charset="-122"/>
                <a:cs typeface="Source Sans 3" pitchFamily="34" charset="-120"/>
              </a:rPr>
              <a:t>Course Details:</a:t>
            </a:r>
            <a:pPr algn="l" indent="0" marL="0">
              <a:lnSpc>
                <a:spcPts val="2050"/>
              </a:lnSpc>
              <a:buNone/>
            </a:pPr>
            <a:r>
              <a:rPr lang="en-US" sz="1450" dirty="0">
                <a:solidFill>
                  <a:srgbClr val="272525"/>
                </a:solidFill>
                <a:latin typeface="Source Sans 3" pitchFamily="34" charset="0"/>
                <a:ea typeface="Source Sans 3" pitchFamily="34" charset="-122"/>
                <a:cs typeface="Source Sans 3" pitchFamily="34" charset="-120"/>
              </a:rPr>
              <a:t> Centralized hub for course-specific announcements, learning materials, and collaborative notes.</a:t>
            </a:r>
            <a:endParaRPr lang="en-US" sz="1450" dirty="0"/>
          </a:p>
        </p:txBody>
      </p:sp>
      <p:sp>
        <p:nvSpPr>
          <p:cNvPr id="9" name="Text 5"/>
          <p:cNvSpPr/>
          <p:nvPr/>
        </p:nvSpPr>
        <p:spPr>
          <a:xfrm>
            <a:off x="7549039" y="4837748"/>
            <a:ext cx="2618184" cy="327184"/>
          </a:xfrm>
          <a:prstGeom prst="rect">
            <a:avLst/>
          </a:prstGeom>
          <a:noFill/>
          <a:ln/>
        </p:spPr>
        <p:txBody>
          <a:bodyPr wrap="none" lIns="0" tIns="0" rIns="0" bIns="0" rtlCol="0" anchor="t"/>
          <a:lstStyle/>
          <a:p>
            <a:pPr algn="l" indent="0" marL="0">
              <a:lnSpc>
                <a:spcPts val="2550"/>
              </a:lnSpc>
              <a:buNone/>
            </a:pPr>
            <a:r>
              <a:rPr lang="en-US" sz="2050" dirty="0">
                <a:solidFill>
                  <a:srgbClr val="000000"/>
                </a:solidFill>
                <a:latin typeface="Source Serif 4 Semi Bold" pitchFamily="34" charset="0"/>
                <a:ea typeface="Source Serif 4 Semi Bold" pitchFamily="34" charset="-122"/>
                <a:cs typeface="Source Serif 4 Semi Bold" pitchFamily="34" charset="-120"/>
              </a:rPr>
              <a:t>Teacher Tools</a:t>
            </a:r>
            <a:endParaRPr lang="en-US" sz="2050" dirty="0"/>
          </a:p>
        </p:txBody>
      </p:sp>
      <p:sp>
        <p:nvSpPr>
          <p:cNvPr id="10" name="Text 6"/>
          <p:cNvSpPr/>
          <p:nvPr/>
        </p:nvSpPr>
        <p:spPr>
          <a:xfrm>
            <a:off x="7549039" y="5308521"/>
            <a:ext cx="5795724" cy="1579896"/>
          </a:xfrm>
          <a:prstGeom prst="rect">
            <a:avLst/>
          </a:prstGeom>
          <a:noFill/>
          <a:ln/>
        </p:spPr>
        <p:txBody>
          <a:bodyPr wrap="square" lIns="0" tIns="0" rIns="0" bIns="0" rtlCol="0" anchor="t"/>
          <a:lstStyle/>
          <a:p>
            <a:pPr algn="l" marL="342900" indent="-342900">
              <a:lnSpc>
                <a:spcPts val="2050"/>
              </a:lnSpc>
              <a:buSzPct val="100000"/>
              <a:buChar char="•"/>
            </a:pPr>
            <a:r>
              <a:rPr lang="en-US" sz="1450" b="1" dirty="0">
                <a:solidFill>
                  <a:srgbClr val="272525"/>
                </a:solidFill>
                <a:latin typeface="Source Sans 3" pitchFamily="34" charset="0"/>
                <a:ea typeface="Source Sans 3" pitchFamily="34" charset="-122"/>
                <a:cs typeface="Source Sans 3" pitchFamily="34" charset="-120"/>
              </a:rPr>
              <a:t>Course Creation:</a:t>
            </a:r>
            <a:pPr algn="l" indent="0" marL="0">
              <a:lnSpc>
                <a:spcPts val="2050"/>
              </a:lnSpc>
              <a:buNone/>
            </a:pPr>
            <a:r>
              <a:rPr lang="en-US" sz="1450" dirty="0">
                <a:solidFill>
                  <a:srgbClr val="272525"/>
                </a:solidFill>
                <a:latin typeface="Source Sans 3" pitchFamily="34" charset="0"/>
                <a:ea typeface="Source Sans 3" pitchFamily="34" charset="-122"/>
                <a:cs typeface="Source Sans 3" pitchFamily="34" charset="-120"/>
              </a:rPr>
              <a:t> Streamlined interface for teachers to set up new courses and define their structure.</a:t>
            </a:r>
            <a:endParaRPr lang="en-US" sz="1450" dirty="0"/>
          </a:p>
          <a:p>
            <a:pPr algn="l" marL="342900" indent="-342900">
              <a:lnSpc>
                <a:spcPts val="2050"/>
              </a:lnSpc>
              <a:buSzPct val="100000"/>
              <a:buChar char="•"/>
            </a:pPr>
            <a:r>
              <a:rPr lang="en-US" sz="1450" b="1" dirty="0">
                <a:solidFill>
                  <a:srgbClr val="272525"/>
                </a:solidFill>
                <a:latin typeface="Source Sans 3" pitchFamily="34" charset="0"/>
                <a:ea typeface="Source Sans 3" pitchFamily="34" charset="-122"/>
                <a:cs typeface="Source Sans 3" pitchFamily="34" charset="-120"/>
              </a:rPr>
              <a:t>Announcement Posting:</a:t>
            </a:r>
            <a:pPr algn="l" indent="0" marL="0">
              <a:lnSpc>
                <a:spcPts val="2050"/>
              </a:lnSpc>
              <a:buNone/>
            </a:pPr>
            <a:r>
              <a:rPr lang="en-US" sz="1450" dirty="0">
                <a:solidFill>
                  <a:srgbClr val="272525"/>
                </a:solidFill>
                <a:latin typeface="Source Sans 3" pitchFamily="34" charset="0"/>
                <a:ea typeface="Source Sans 3" pitchFamily="34" charset="-122"/>
                <a:cs typeface="Source Sans 3" pitchFamily="34" charset="-120"/>
              </a:rPr>
              <a:t> Effortlessly disseminate important updates and information to enrolled students.</a:t>
            </a:r>
            <a:endParaRPr lang="en-US" sz="1450" dirty="0"/>
          </a:p>
          <a:p>
            <a:pPr algn="l" marL="342900" indent="-342900">
              <a:lnSpc>
                <a:spcPts val="2050"/>
              </a:lnSpc>
              <a:buSzPct val="100000"/>
              <a:buChar char="•"/>
            </a:pPr>
            <a:r>
              <a:rPr lang="en-US" sz="1450" b="1" dirty="0">
                <a:solidFill>
                  <a:srgbClr val="272525"/>
                </a:solidFill>
                <a:latin typeface="Source Sans 3" pitchFamily="34" charset="0"/>
                <a:ea typeface="Source Sans 3" pitchFamily="34" charset="-122"/>
                <a:cs typeface="Source Sans 3" pitchFamily="34" charset="-120"/>
              </a:rPr>
              <a:t>Material Uploads:</a:t>
            </a:r>
            <a:pPr algn="l" indent="0" marL="0">
              <a:lnSpc>
                <a:spcPts val="2050"/>
              </a:lnSpc>
              <a:buNone/>
            </a:pPr>
            <a:r>
              <a:rPr lang="en-US" sz="1450" dirty="0">
                <a:solidFill>
                  <a:srgbClr val="272525"/>
                </a:solidFill>
                <a:latin typeface="Source Sans 3" pitchFamily="34" charset="0"/>
                <a:ea typeface="Source Sans 3" pitchFamily="34" charset="-122"/>
                <a:cs typeface="Source Sans 3" pitchFamily="34" charset="-120"/>
              </a:rPr>
              <a:t> Simple tools for sharing lectures, assignments, and supplementary resources.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Shape 0"/>
          <p:cNvSpPr/>
          <p:nvPr/>
        </p:nvSpPr>
        <p:spPr>
          <a:xfrm>
            <a:off x="9144000" y="0"/>
            <a:ext cx="5486400" cy="8229600"/>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9144000" y="0"/>
            <a:ext cx="5486400" cy="8229600"/>
          </a:xfrm>
          <a:prstGeom prst="rect">
            <a:avLst/>
          </a:prstGeom>
        </p:spPr>
      </p:pic>
      <p:sp>
        <p:nvSpPr>
          <p:cNvPr id="5" name="Text 1"/>
          <p:cNvSpPr/>
          <p:nvPr/>
        </p:nvSpPr>
        <p:spPr>
          <a:xfrm>
            <a:off x="716399" y="1410176"/>
            <a:ext cx="6812637" cy="601980"/>
          </a:xfrm>
          <a:prstGeom prst="rect">
            <a:avLst/>
          </a:prstGeom>
          <a:noFill/>
          <a:ln/>
        </p:spPr>
        <p:txBody>
          <a:bodyPr wrap="none" lIns="0" tIns="0" rIns="0" bIns="0" rtlCol="0" anchor="t"/>
          <a:lstStyle/>
          <a:p>
            <a:pPr algn="l" indent="0" marL="0">
              <a:lnSpc>
                <a:spcPts val="4700"/>
              </a:lnSpc>
              <a:buNone/>
            </a:pPr>
            <a:r>
              <a:rPr lang="en-US" sz="3750" dirty="0">
                <a:solidFill>
                  <a:srgbClr val="000000"/>
                </a:solidFill>
                <a:latin typeface="Source Serif 4 Semi Bold" pitchFamily="34" charset="0"/>
                <a:ea typeface="Source Serif 4 Semi Bold" pitchFamily="34" charset="-122"/>
                <a:cs typeface="Source Serif 4 Semi Bold" pitchFamily="34" charset="-120"/>
              </a:rPr>
              <a:t>Dynamic Content &amp; Materials</a:t>
            </a:r>
            <a:endParaRPr lang="en-US" sz="3750" dirty="0"/>
          </a:p>
        </p:txBody>
      </p:sp>
      <p:sp>
        <p:nvSpPr>
          <p:cNvPr id="6" name="Text 2"/>
          <p:cNvSpPr/>
          <p:nvPr/>
        </p:nvSpPr>
        <p:spPr>
          <a:xfrm>
            <a:off x="716399" y="2274689"/>
            <a:ext cx="7711202" cy="607457"/>
          </a:xfrm>
          <a:prstGeom prst="rect">
            <a:avLst/>
          </a:prstGeom>
          <a:noFill/>
          <a:ln/>
        </p:spPr>
        <p:txBody>
          <a:bodyPr wrap="square" lIns="0" tIns="0" rIns="0" bIns="0" rtlCol="0" anchor="t"/>
          <a:lstStyle/>
          <a:p>
            <a:pPr algn="l" indent="0" marL="0">
              <a:lnSpc>
                <a:spcPts val="2350"/>
              </a:lnSpc>
              <a:buNone/>
            </a:pPr>
            <a:r>
              <a:rPr lang="en-US" sz="1600" dirty="0">
                <a:solidFill>
                  <a:srgbClr val="272525"/>
                </a:solidFill>
                <a:latin typeface="Source Sans 3" pitchFamily="34" charset="0"/>
                <a:ea typeface="Source Sans 3" pitchFamily="34" charset="-122"/>
                <a:cs typeface="Source Sans 3" pitchFamily="34" charset="-120"/>
              </a:rPr>
              <a:t>Uniflow simplifies the distribution and access of critical academic resources, ensuring students always have the latest content at their fingertips.</a:t>
            </a:r>
            <a:endParaRPr lang="en-US" sz="1600" dirty="0"/>
          </a:p>
        </p:txBody>
      </p:sp>
      <p:pic>
        <p:nvPicPr>
          <p:cNvPr id="7"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6399" y="3078956"/>
            <a:ext cx="511731" cy="511731"/>
          </a:xfrm>
          <a:prstGeom prst="rect">
            <a:avLst/>
          </a:prstGeom>
        </p:spPr>
      </p:pic>
      <p:sp>
        <p:nvSpPr>
          <p:cNvPr id="8" name="Text 3"/>
          <p:cNvSpPr/>
          <p:nvPr/>
        </p:nvSpPr>
        <p:spPr>
          <a:xfrm>
            <a:off x="1446848" y="3078956"/>
            <a:ext cx="2467213" cy="300990"/>
          </a:xfrm>
          <a:prstGeom prst="rect">
            <a:avLst/>
          </a:prstGeom>
          <a:noFill/>
          <a:ln/>
        </p:spPr>
        <p:txBody>
          <a:bodyPr wrap="none" lIns="0" tIns="0" rIns="0" bIns="0" rtlCol="0" anchor="t"/>
          <a:lstStyle/>
          <a:p>
            <a:pPr algn="l" indent="0" marL="0">
              <a:lnSpc>
                <a:spcPts val="2350"/>
              </a:lnSpc>
              <a:buNone/>
            </a:pPr>
            <a:r>
              <a:rPr lang="en-US" sz="1850" dirty="0">
                <a:solidFill>
                  <a:srgbClr val="272525"/>
                </a:solidFill>
                <a:latin typeface="Source Serif 4 Semi Bold" pitchFamily="34" charset="0"/>
                <a:ea typeface="Source Serif 4 Semi Bold" pitchFamily="34" charset="-122"/>
                <a:cs typeface="Source Serif 4 Semi Bold" pitchFamily="34" charset="-120"/>
              </a:rPr>
              <a:t>Material Distribution</a:t>
            </a:r>
            <a:endParaRPr lang="en-US" sz="1850" dirty="0"/>
          </a:p>
        </p:txBody>
      </p:sp>
      <p:sp>
        <p:nvSpPr>
          <p:cNvPr id="9" name="Text 4"/>
          <p:cNvSpPr/>
          <p:nvPr/>
        </p:nvSpPr>
        <p:spPr>
          <a:xfrm>
            <a:off x="1446848" y="3484959"/>
            <a:ext cx="6980753" cy="607457"/>
          </a:xfrm>
          <a:prstGeom prst="rect">
            <a:avLst/>
          </a:prstGeom>
          <a:noFill/>
          <a:ln/>
        </p:spPr>
        <p:txBody>
          <a:bodyPr wrap="square" lIns="0" tIns="0" rIns="0" bIns="0" rtlCol="0" anchor="t"/>
          <a:lstStyle/>
          <a:p>
            <a:pPr algn="l" indent="0" marL="0">
              <a:lnSpc>
                <a:spcPts val="2350"/>
              </a:lnSpc>
              <a:buNone/>
            </a:pPr>
            <a:r>
              <a:rPr lang="en-US" sz="1600" dirty="0">
                <a:solidFill>
                  <a:srgbClr val="272525"/>
                </a:solidFill>
                <a:latin typeface="Source Sans 3" pitchFamily="34" charset="0"/>
                <a:ea typeface="Source Sans 3" pitchFamily="34" charset="-122"/>
                <a:cs typeface="Source Sans 3" pitchFamily="34" charset="-120"/>
              </a:rPr>
              <a:t>Teachers can easily upload lectures, lab instructions, assignments, and other essential course materials.</a:t>
            </a:r>
            <a:endParaRPr lang="en-US" sz="1600" dirty="0"/>
          </a:p>
        </p:txBody>
      </p:sp>
      <p:pic>
        <p:nvPicPr>
          <p:cNvPr id="10"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6399" y="4442460"/>
            <a:ext cx="511731" cy="511731"/>
          </a:xfrm>
          <a:prstGeom prst="rect">
            <a:avLst/>
          </a:prstGeom>
        </p:spPr>
      </p:pic>
      <p:sp>
        <p:nvSpPr>
          <p:cNvPr id="11" name="Text 5"/>
          <p:cNvSpPr/>
          <p:nvPr/>
        </p:nvSpPr>
        <p:spPr>
          <a:xfrm>
            <a:off x="1446848" y="4442460"/>
            <a:ext cx="3242667" cy="300990"/>
          </a:xfrm>
          <a:prstGeom prst="rect">
            <a:avLst/>
          </a:prstGeom>
          <a:noFill/>
          <a:ln/>
        </p:spPr>
        <p:txBody>
          <a:bodyPr wrap="none" lIns="0" tIns="0" rIns="0" bIns="0" rtlCol="0" anchor="t"/>
          <a:lstStyle/>
          <a:p>
            <a:pPr algn="l" indent="0" marL="0">
              <a:lnSpc>
                <a:spcPts val="2350"/>
              </a:lnSpc>
              <a:buNone/>
            </a:pPr>
            <a:r>
              <a:rPr lang="en-US" sz="1850" dirty="0">
                <a:solidFill>
                  <a:srgbClr val="272525"/>
                </a:solidFill>
                <a:latin typeface="Source Serif 4 Semi Bold" pitchFamily="34" charset="0"/>
                <a:ea typeface="Source Serif 4 Semi Bold" pitchFamily="34" charset="-122"/>
                <a:cs typeface="Source Serif 4 Semi Bold" pitchFamily="34" charset="-120"/>
              </a:rPr>
              <a:t>Dedicated Download Center</a:t>
            </a:r>
            <a:endParaRPr lang="en-US" sz="1850" dirty="0"/>
          </a:p>
        </p:txBody>
      </p:sp>
      <p:sp>
        <p:nvSpPr>
          <p:cNvPr id="12" name="Text 6"/>
          <p:cNvSpPr/>
          <p:nvPr/>
        </p:nvSpPr>
        <p:spPr>
          <a:xfrm>
            <a:off x="1446848" y="4848463"/>
            <a:ext cx="6980753" cy="607457"/>
          </a:xfrm>
          <a:prstGeom prst="rect">
            <a:avLst/>
          </a:prstGeom>
          <a:noFill/>
          <a:ln/>
        </p:spPr>
        <p:txBody>
          <a:bodyPr wrap="square" lIns="0" tIns="0" rIns="0" bIns="0" rtlCol="0" anchor="t"/>
          <a:lstStyle/>
          <a:p>
            <a:pPr algn="l" indent="0" marL="0">
              <a:lnSpc>
                <a:spcPts val="2350"/>
              </a:lnSpc>
              <a:buNone/>
            </a:pPr>
            <a:r>
              <a:rPr lang="en-US" sz="1600" dirty="0">
                <a:solidFill>
                  <a:srgbClr val="272525"/>
                </a:solidFill>
                <a:latin typeface="Source Sans 3" pitchFamily="34" charset="0"/>
                <a:ea typeface="Source Sans 3" pitchFamily="34" charset="-122"/>
                <a:cs typeface="Source Sans 3" pitchFamily="34" charset="-120"/>
              </a:rPr>
              <a:t>Students access a centralized area within each course to efficiently view and download all shared materials.</a:t>
            </a:r>
            <a:endParaRPr lang="en-US" sz="1600" dirty="0"/>
          </a:p>
        </p:txBody>
      </p:sp>
      <p:pic>
        <p:nvPicPr>
          <p:cNvPr id="13"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6399" y="5805964"/>
            <a:ext cx="511731" cy="511731"/>
          </a:xfrm>
          <a:prstGeom prst="rect">
            <a:avLst/>
          </a:prstGeom>
        </p:spPr>
      </p:pic>
      <p:sp>
        <p:nvSpPr>
          <p:cNvPr id="14" name="Text 7"/>
          <p:cNvSpPr/>
          <p:nvPr/>
        </p:nvSpPr>
        <p:spPr>
          <a:xfrm>
            <a:off x="1446848" y="5805964"/>
            <a:ext cx="3144917" cy="300990"/>
          </a:xfrm>
          <a:prstGeom prst="rect">
            <a:avLst/>
          </a:prstGeom>
          <a:noFill/>
          <a:ln/>
        </p:spPr>
        <p:txBody>
          <a:bodyPr wrap="none" lIns="0" tIns="0" rIns="0" bIns="0" rtlCol="0" anchor="t"/>
          <a:lstStyle/>
          <a:p>
            <a:pPr algn="l" indent="0" marL="0">
              <a:lnSpc>
                <a:spcPts val="2350"/>
              </a:lnSpc>
              <a:buNone/>
            </a:pPr>
            <a:r>
              <a:rPr lang="en-US" sz="1850" dirty="0">
                <a:solidFill>
                  <a:srgbClr val="272525"/>
                </a:solidFill>
                <a:latin typeface="Source Serif 4 Semi Bold" pitchFamily="34" charset="0"/>
                <a:ea typeface="Source Serif 4 Semi Bold" pitchFamily="34" charset="-122"/>
                <a:cs typeface="Source Serif 4 Semi Bold" pitchFamily="34" charset="-120"/>
              </a:rPr>
              <a:t>Real-Time Announcements</a:t>
            </a:r>
            <a:endParaRPr lang="en-US" sz="1850" dirty="0"/>
          </a:p>
        </p:txBody>
      </p:sp>
      <p:sp>
        <p:nvSpPr>
          <p:cNvPr id="15" name="Text 8"/>
          <p:cNvSpPr/>
          <p:nvPr/>
        </p:nvSpPr>
        <p:spPr>
          <a:xfrm>
            <a:off x="1446848" y="6211967"/>
            <a:ext cx="6980753" cy="607457"/>
          </a:xfrm>
          <a:prstGeom prst="rect">
            <a:avLst/>
          </a:prstGeom>
          <a:noFill/>
          <a:ln/>
        </p:spPr>
        <p:txBody>
          <a:bodyPr wrap="square" lIns="0" tIns="0" rIns="0" bIns="0" rtlCol="0" anchor="t"/>
          <a:lstStyle/>
          <a:p>
            <a:pPr algn="l" indent="0" marL="0">
              <a:lnSpc>
                <a:spcPts val="2350"/>
              </a:lnSpc>
              <a:buNone/>
            </a:pPr>
            <a:r>
              <a:rPr lang="en-US" sz="1600" dirty="0">
                <a:solidFill>
                  <a:srgbClr val="272525"/>
                </a:solidFill>
                <a:latin typeface="Source Sans 3" pitchFamily="34" charset="0"/>
                <a:ea typeface="Source Sans 3" pitchFamily="34" charset="-122"/>
                <a:cs typeface="Source Sans 3" pitchFamily="34" charset="-120"/>
              </a:rPr>
              <a:t>Teachers can post instant updates and important messages, which are prominently pinned to the course feed for maximum visibility.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Shape 0"/>
          <p:cNvSpPr/>
          <p:nvPr/>
        </p:nvSpPr>
        <p:spPr>
          <a:xfrm>
            <a:off x="0" y="0"/>
            <a:ext cx="5486400" cy="8229600"/>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sp>
        <p:nvSpPr>
          <p:cNvPr id="5" name="Text 1"/>
          <p:cNvSpPr/>
          <p:nvPr/>
        </p:nvSpPr>
        <p:spPr>
          <a:xfrm>
            <a:off x="6297930" y="697230"/>
            <a:ext cx="6855500" cy="681871"/>
          </a:xfrm>
          <a:prstGeom prst="rect">
            <a:avLst/>
          </a:prstGeom>
          <a:noFill/>
          <a:ln/>
        </p:spPr>
        <p:txBody>
          <a:bodyPr wrap="none" lIns="0" tIns="0" rIns="0" bIns="0" rtlCol="0" anchor="t"/>
          <a:lstStyle/>
          <a:p>
            <a:pPr algn="l" indent="0" marL="0">
              <a:lnSpc>
                <a:spcPts val="5350"/>
              </a:lnSpc>
              <a:buNone/>
            </a:pPr>
            <a:r>
              <a:rPr lang="en-US" sz="4250" dirty="0">
                <a:solidFill>
                  <a:srgbClr val="000000"/>
                </a:solidFill>
                <a:latin typeface="Source Serif 4 Semi Bold" pitchFamily="34" charset="0"/>
                <a:ea typeface="Source Serif 4 Semi Bold" pitchFamily="34" charset="-122"/>
                <a:cs typeface="Source Serif 4 Semi Bold" pitchFamily="34" charset="-120"/>
              </a:rPr>
              <a:t>Collaborative Note-Taking</a:t>
            </a:r>
            <a:endParaRPr lang="en-US" sz="4250" dirty="0"/>
          </a:p>
        </p:txBody>
      </p:sp>
      <p:sp>
        <p:nvSpPr>
          <p:cNvPr id="6" name="Text 2"/>
          <p:cNvSpPr/>
          <p:nvPr/>
        </p:nvSpPr>
        <p:spPr>
          <a:xfrm>
            <a:off x="6297930" y="1715929"/>
            <a:ext cx="7520940" cy="730091"/>
          </a:xfrm>
          <a:prstGeom prst="rect">
            <a:avLst/>
          </a:prstGeom>
          <a:noFill/>
          <a:ln/>
        </p:spPr>
        <p:txBody>
          <a:bodyPr wrap="square" lIns="0" tIns="0" rIns="0" bIns="0" rtlCol="0" anchor="t"/>
          <a:lstStyle/>
          <a:p>
            <a:pPr algn="l" indent="0" marL="0">
              <a:lnSpc>
                <a:spcPts val="2850"/>
              </a:lnSpc>
              <a:buNone/>
            </a:pPr>
            <a:r>
              <a:rPr lang="en-US" sz="1800" dirty="0">
                <a:solidFill>
                  <a:srgbClr val="272525"/>
                </a:solidFill>
                <a:latin typeface="Source Sans 3" pitchFamily="34" charset="0"/>
                <a:ea typeface="Source Sans 3" pitchFamily="34" charset="-122"/>
                <a:cs typeface="Source Sans 3" pitchFamily="34" charset="-120"/>
              </a:rPr>
              <a:t>Uniflow empowers students to actively participate in knowledge creation and sharing through its innovative note-taking system.</a:t>
            </a:r>
            <a:endParaRPr lang="en-US" sz="1800" dirty="0"/>
          </a:p>
        </p:txBody>
      </p:sp>
      <p:sp>
        <p:nvSpPr>
          <p:cNvPr id="7" name="Text 3"/>
          <p:cNvSpPr/>
          <p:nvPr/>
        </p:nvSpPr>
        <p:spPr>
          <a:xfrm>
            <a:off x="6297930" y="2923223"/>
            <a:ext cx="3273385" cy="409099"/>
          </a:xfrm>
          <a:prstGeom prst="rect">
            <a:avLst/>
          </a:prstGeom>
          <a:noFill/>
          <a:ln/>
        </p:spPr>
        <p:txBody>
          <a:bodyPr wrap="none" lIns="0" tIns="0" rIns="0" bIns="0" rtlCol="0" anchor="t"/>
          <a:lstStyle/>
          <a:p>
            <a:pPr algn="l" indent="0" marL="0">
              <a:lnSpc>
                <a:spcPts val="3200"/>
              </a:lnSpc>
              <a:buNone/>
            </a:pPr>
            <a:r>
              <a:rPr lang="en-US" sz="2550" dirty="0">
                <a:solidFill>
                  <a:srgbClr val="000000"/>
                </a:solidFill>
                <a:latin typeface="Source Serif 4 Semi Bold" pitchFamily="34" charset="0"/>
                <a:ea typeface="Source Serif 4 Semi Bold" pitchFamily="34" charset="-122"/>
                <a:cs typeface="Source Serif 4 Semi Bold" pitchFamily="34" charset="-120"/>
              </a:rPr>
              <a:t>Share Knowledge</a:t>
            </a:r>
            <a:endParaRPr lang="en-US" sz="2550" dirty="0"/>
          </a:p>
        </p:txBody>
      </p:sp>
      <p:sp>
        <p:nvSpPr>
          <p:cNvPr id="8" name="Text 4"/>
          <p:cNvSpPr/>
          <p:nvPr/>
        </p:nvSpPr>
        <p:spPr>
          <a:xfrm>
            <a:off x="6297930" y="3556873"/>
            <a:ext cx="3477697" cy="1460183"/>
          </a:xfrm>
          <a:prstGeom prst="rect">
            <a:avLst/>
          </a:prstGeom>
          <a:noFill/>
          <a:ln/>
        </p:spPr>
        <p:txBody>
          <a:bodyPr wrap="square" lIns="0" tIns="0" rIns="0" bIns="0" rtlCol="0" anchor="t"/>
          <a:lstStyle/>
          <a:p>
            <a:pPr algn="l" indent="0" marL="0">
              <a:lnSpc>
                <a:spcPts val="2850"/>
              </a:lnSpc>
              <a:buNone/>
            </a:pPr>
            <a:r>
              <a:rPr lang="en-US" sz="1800" dirty="0">
                <a:solidFill>
                  <a:srgbClr val="272525"/>
                </a:solidFill>
                <a:latin typeface="Source Sans 3" pitchFamily="34" charset="0"/>
                <a:ea typeface="Source Sans 3" pitchFamily="34" charset="-122"/>
                <a:cs typeface="Source Sans 3" pitchFamily="34" charset="-120"/>
              </a:rPr>
              <a:t>Students can upload their meticulously crafted notes for specific courses, creating a rich, community-driven knowledge base.</a:t>
            </a:r>
            <a:endParaRPr lang="en-US" sz="1800" dirty="0"/>
          </a:p>
        </p:txBody>
      </p:sp>
      <p:sp>
        <p:nvSpPr>
          <p:cNvPr id="9" name="Text 5"/>
          <p:cNvSpPr/>
          <p:nvPr/>
        </p:nvSpPr>
        <p:spPr>
          <a:xfrm>
            <a:off x="10348793" y="2923223"/>
            <a:ext cx="3273385" cy="409099"/>
          </a:xfrm>
          <a:prstGeom prst="rect">
            <a:avLst/>
          </a:prstGeom>
          <a:noFill/>
          <a:ln/>
        </p:spPr>
        <p:txBody>
          <a:bodyPr wrap="none" lIns="0" tIns="0" rIns="0" bIns="0" rtlCol="0" anchor="t"/>
          <a:lstStyle/>
          <a:p>
            <a:pPr algn="l" indent="0" marL="0">
              <a:lnSpc>
                <a:spcPts val="3200"/>
              </a:lnSpc>
              <a:buNone/>
            </a:pPr>
            <a:r>
              <a:rPr lang="en-US" sz="2550" dirty="0">
                <a:solidFill>
                  <a:srgbClr val="000000"/>
                </a:solidFill>
                <a:latin typeface="Source Serif 4 Semi Bold" pitchFamily="34" charset="0"/>
                <a:ea typeface="Source Serif 4 Semi Bold" pitchFamily="34" charset="-122"/>
                <a:cs typeface="Source Serif 4 Semi Bold" pitchFamily="34" charset="-120"/>
              </a:rPr>
              <a:t>Quality Assurance</a:t>
            </a:r>
            <a:endParaRPr lang="en-US" sz="2550" dirty="0"/>
          </a:p>
        </p:txBody>
      </p:sp>
      <p:sp>
        <p:nvSpPr>
          <p:cNvPr id="10" name="Text 6"/>
          <p:cNvSpPr/>
          <p:nvPr/>
        </p:nvSpPr>
        <p:spPr>
          <a:xfrm>
            <a:off x="10348793" y="3556873"/>
            <a:ext cx="3477697" cy="1825228"/>
          </a:xfrm>
          <a:prstGeom prst="rect">
            <a:avLst/>
          </a:prstGeom>
          <a:noFill/>
          <a:ln/>
        </p:spPr>
        <p:txBody>
          <a:bodyPr wrap="square" lIns="0" tIns="0" rIns="0" bIns="0" rtlCol="0" anchor="t"/>
          <a:lstStyle/>
          <a:p>
            <a:pPr algn="l" indent="0" marL="0">
              <a:lnSpc>
                <a:spcPts val="2850"/>
              </a:lnSpc>
              <a:buNone/>
            </a:pPr>
            <a:r>
              <a:rPr lang="en-US" sz="1800" dirty="0">
                <a:solidFill>
                  <a:srgbClr val="272525"/>
                </a:solidFill>
                <a:latin typeface="Source Sans 3" pitchFamily="34" charset="0"/>
                <a:ea typeface="Source Sans 3" pitchFamily="34" charset="-122"/>
                <a:cs typeface="Source Sans 3" pitchFamily="34" charset="-120"/>
              </a:rPr>
              <a:t>To maintain high standards, all submitted notes require approval from the course teacher, ensuring accuracy and relevance. Approved notes earn the student 30 XP!</a:t>
            </a:r>
            <a:endParaRPr lang="en-US" sz="1800" dirty="0"/>
          </a:p>
        </p:txBody>
      </p:sp>
      <p:sp>
        <p:nvSpPr>
          <p:cNvPr id="11" name="Shape 7"/>
          <p:cNvSpPr/>
          <p:nvPr/>
        </p:nvSpPr>
        <p:spPr>
          <a:xfrm>
            <a:off x="6297930" y="5836801"/>
            <a:ext cx="7520940" cy="1695450"/>
          </a:xfrm>
          <a:prstGeom prst="roundRect">
            <a:avLst>
              <a:gd name="adj" fmla="val 5744"/>
            </a:avLst>
          </a:prstGeom>
          <a:solidFill>
            <a:srgbClr val="E8BEF4"/>
          </a:solidFill>
          <a:ln/>
        </p:spPr>
      </p:sp>
      <p:pic>
        <p:nvPicPr>
          <p:cNvPr id="12" name="Image 2" descr="preencoded.png">    </p:cNvPr>
          <p:cNvPicPr>
            <a:picLocks noChangeAspect="1"/>
          </p:cNvPicPr>
          <p:nvPr/>
        </p:nvPicPr>
        <p:blipFill>
          <a:blip r:embed="rId3"/>
          <a:stretch>
            <a:fillRect/>
          </a:stretch>
        </p:blipFill>
        <p:spPr>
          <a:xfrm>
            <a:off x="6529745" y="6175058"/>
            <a:ext cx="289798" cy="231815"/>
          </a:xfrm>
          <a:prstGeom prst="rect">
            <a:avLst/>
          </a:prstGeom>
        </p:spPr>
      </p:pic>
      <p:sp>
        <p:nvSpPr>
          <p:cNvPr id="13" name="Text 8"/>
          <p:cNvSpPr/>
          <p:nvPr/>
        </p:nvSpPr>
        <p:spPr>
          <a:xfrm>
            <a:off x="7051358" y="6119217"/>
            <a:ext cx="6535698" cy="1095137"/>
          </a:xfrm>
          <a:prstGeom prst="rect">
            <a:avLst/>
          </a:prstGeom>
          <a:noFill/>
          <a:ln/>
        </p:spPr>
        <p:txBody>
          <a:bodyPr wrap="square" lIns="0" tIns="0" rIns="0" bIns="0" rtlCol="0" anchor="t"/>
          <a:lstStyle/>
          <a:p>
            <a:pPr algn="l" indent="0" marL="0">
              <a:lnSpc>
                <a:spcPts val="2850"/>
              </a:lnSpc>
              <a:buNone/>
            </a:pPr>
            <a:r>
              <a:rPr lang="en-US" sz="1800" b="1" dirty="0">
                <a:solidFill>
                  <a:srgbClr val="000000"/>
                </a:solidFill>
                <a:latin typeface="Source Sans 3" pitchFamily="34" charset="0"/>
                <a:ea typeface="Source Sans 3" pitchFamily="34" charset="-122"/>
                <a:cs typeface="Source Sans 3" pitchFamily="34" charset="-120"/>
              </a:rPr>
              <a:t>Public Library:</a:t>
            </a:r>
            <a:pPr algn="l" indent="0" marL="0">
              <a:lnSpc>
                <a:spcPts val="2850"/>
              </a:lnSpc>
              <a:buNone/>
            </a:pPr>
            <a:r>
              <a:rPr lang="en-US" sz="1800" dirty="0">
                <a:solidFill>
                  <a:srgbClr val="000000"/>
                </a:solidFill>
                <a:latin typeface="Source Sans 3" pitchFamily="34" charset="0"/>
                <a:ea typeface="Source Sans 3" pitchFamily="34" charset="-122"/>
                <a:cs typeface="Source Sans 3" pitchFamily="34" charset="-120"/>
              </a:rPr>
              <a:t> Once approved, notes become visible to all students enrolled in that course, fostering a collaborative learning environment.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Shape 0"/>
          <p:cNvSpPr/>
          <p:nvPr/>
        </p:nvSpPr>
        <p:spPr>
          <a:xfrm>
            <a:off x="9144000" y="0"/>
            <a:ext cx="5486400" cy="8229600"/>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9144000" y="0"/>
            <a:ext cx="5486400" cy="8229600"/>
          </a:xfrm>
          <a:prstGeom prst="rect">
            <a:avLst/>
          </a:prstGeom>
        </p:spPr>
      </p:pic>
      <p:sp>
        <p:nvSpPr>
          <p:cNvPr id="5" name="Text 1"/>
          <p:cNvSpPr/>
          <p:nvPr/>
        </p:nvSpPr>
        <p:spPr>
          <a:xfrm>
            <a:off x="515183" y="1410891"/>
            <a:ext cx="7259598" cy="433030"/>
          </a:xfrm>
          <a:prstGeom prst="rect">
            <a:avLst/>
          </a:prstGeom>
          <a:noFill/>
          <a:ln/>
        </p:spPr>
        <p:txBody>
          <a:bodyPr wrap="none" lIns="0" tIns="0" rIns="0" bIns="0" rtlCol="0" anchor="t"/>
          <a:lstStyle/>
          <a:p>
            <a:pPr algn="l" indent="0" marL="0">
              <a:lnSpc>
                <a:spcPts val="3400"/>
              </a:lnSpc>
              <a:buNone/>
            </a:pPr>
            <a:r>
              <a:rPr lang="en-US" sz="2700" dirty="0">
                <a:solidFill>
                  <a:srgbClr val="000000"/>
                </a:solidFill>
                <a:latin typeface="Source Serif 4 Semi Bold" pitchFamily="34" charset="0"/>
                <a:ea typeface="Source Serif 4 Semi Bold" pitchFamily="34" charset="-122"/>
                <a:cs typeface="Source Serif 4 Semi Bold" pitchFamily="34" charset="-120"/>
              </a:rPr>
              <a:t>Earn While You Learn: Gamification Engine</a:t>
            </a:r>
            <a:endParaRPr lang="en-US" sz="2700" dirty="0"/>
          </a:p>
        </p:txBody>
      </p:sp>
      <p:sp>
        <p:nvSpPr>
          <p:cNvPr id="6" name="Text 2"/>
          <p:cNvSpPr/>
          <p:nvPr/>
        </p:nvSpPr>
        <p:spPr>
          <a:xfrm>
            <a:off x="515183" y="1979652"/>
            <a:ext cx="8113633" cy="380524"/>
          </a:xfrm>
          <a:prstGeom prst="rect">
            <a:avLst/>
          </a:prstGeom>
          <a:noFill/>
          <a:ln/>
        </p:spPr>
        <p:txBody>
          <a:bodyPr wrap="square" lIns="0" tIns="0" rIns="0" bIns="0" rtlCol="0" anchor="t"/>
          <a:lstStyle/>
          <a:p>
            <a:pPr algn="l" indent="0" marL="0">
              <a:lnSpc>
                <a:spcPts val="1450"/>
              </a:lnSpc>
              <a:buNone/>
            </a:pPr>
            <a:r>
              <a:rPr lang="en-US" sz="1150" dirty="0">
                <a:solidFill>
                  <a:srgbClr val="272525"/>
                </a:solidFill>
                <a:latin typeface="Source Sans 3" pitchFamily="34" charset="0"/>
                <a:ea typeface="Source Sans 3" pitchFamily="34" charset="-122"/>
                <a:cs typeface="Source Sans 3" pitchFamily="34" charset="-120"/>
              </a:rPr>
              <a:t>Uniflow integrates a dynamic gamification engine designed to motivate and reward students for their academic engagement and achievements.</a:t>
            </a:r>
            <a:endParaRPr lang="en-US" sz="1150" dirty="0"/>
          </a:p>
        </p:txBody>
      </p:sp>
      <p:sp>
        <p:nvSpPr>
          <p:cNvPr id="7" name="Text 3"/>
          <p:cNvSpPr/>
          <p:nvPr/>
        </p:nvSpPr>
        <p:spPr>
          <a:xfrm>
            <a:off x="515183" y="2461974"/>
            <a:ext cx="147161" cy="183952"/>
          </a:xfrm>
          <a:prstGeom prst="rect">
            <a:avLst/>
          </a:prstGeom>
          <a:noFill/>
          <a:ln/>
        </p:spPr>
        <p:txBody>
          <a:bodyPr wrap="none" lIns="0" tIns="0" rIns="0" bIns="0" rtlCol="0" anchor="t"/>
          <a:lstStyle/>
          <a:p>
            <a:pPr algn="l" indent="0" marL="0">
              <a:lnSpc>
                <a:spcPts val="1450"/>
              </a:lnSpc>
              <a:buNone/>
            </a:pPr>
            <a:r>
              <a:rPr lang="en-US" sz="1150" dirty="0">
                <a:solidFill>
                  <a:srgbClr val="272525"/>
                </a:solidFill>
                <a:latin typeface="Source Serif 4 Light" pitchFamily="34" charset="0"/>
                <a:ea typeface="Source Serif 4 Light" pitchFamily="34" charset="-122"/>
                <a:cs typeface="Source Serif 4 Light" pitchFamily="34" charset="-120"/>
              </a:rPr>
              <a:t>01</a:t>
            </a:r>
            <a:endParaRPr lang="en-US" sz="1150" dirty="0"/>
          </a:p>
        </p:txBody>
      </p:sp>
      <p:sp>
        <p:nvSpPr>
          <p:cNvPr id="8" name="Shape 4"/>
          <p:cNvSpPr/>
          <p:nvPr/>
        </p:nvSpPr>
        <p:spPr>
          <a:xfrm>
            <a:off x="515183" y="2696885"/>
            <a:ext cx="8113633" cy="15240"/>
          </a:xfrm>
          <a:prstGeom prst="rect">
            <a:avLst/>
          </a:prstGeom>
          <a:solidFill>
            <a:srgbClr val="BE49DF"/>
          </a:solidFill>
          <a:ln/>
        </p:spPr>
      </p:sp>
      <p:sp>
        <p:nvSpPr>
          <p:cNvPr id="9" name="Text 5"/>
          <p:cNvSpPr/>
          <p:nvPr/>
        </p:nvSpPr>
        <p:spPr>
          <a:xfrm>
            <a:off x="515183" y="2800945"/>
            <a:ext cx="1732002" cy="216456"/>
          </a:xfrm>
          <a:prstGeom prst="rect">
            <a:avLst/>
          </a:prstGeom>
          <a:noFill/>
          <a:ln/>
        </p:spPr>
        <p:txBody>
          <a:bodyPr wrap="none" lIns="0" tIns="0" rIns="0" bIns="0" rtlCol="0" anchor="t"/>
          <a:lstStyle/>
          <a:p>
            <a:pPr algn="l" indent="0" marL="0">
              <a:lnSpc>
                <a:spcPts val="1700"/>
              </a:lnSpc>
              <a:buNone/>
            </a:pPr>
            <a:r>
              <a:rPr lang="en-US" sz="1350" dirty="0">
                <a:solidFill>
                  <a:srgbClr val="272525"/>
                </a:solidFill>
                <a:latin typeface="Source Serif 4 Semi Bold" pitchFamily="34" charset="0"/>
                <a:ea typeface="Source Serif 4 Semi Bold" pitchFamily="34" charset="-122"/>
                <a:cs typeface="Source Serif 4 Semi Bold" pitchFamily="34" charset="-120"/>
              </a:rPr>
              <a:t>XP System</a:t>
            </a:r>
            <a:endParaRPr lang="en-US" sz="1350" dirty="0"/>
          </a:p>
        </p:txBody>
      </p:sp>
      <p:sp>
        <p:nvSpPr>
          <p:cNvPr id="10" name="Text 6"/>
          <p:cNvSpPr/>
          <p:nvPr/>
        </p:nvSpPr>
        <p:spPr>
          <a:xfrm>
            <a:off x="515183" y="3071693"/>
            <a:ext cx="8113633" cy="190262"/>
          </a:xfrm>
          <a:prstGeom prst="rect">
            <a:avLst/>
          </a:prstGeom>
          <a:noFill/>
          <a:ln/>
        </p:spPr>
        <p:txBody>
          <a:bodyPr wrap="none" lIns="0" tIns="0" rIns="0" bIns="0" rtlCol="0" anchor="t"/>
          <a:lstStyle/>
          <a:p>
            <a:pPr algn="l" indent="0" marL="0">
              <a:lnSpc>
                <a:spcPts val="1450"/>
              </a:lnSpc>
              <a:buNone/>
            </a:pPr>
            <a:r>
              <a:rPr lang="en-US" sz="1150" dirty="0">
                <a:solidFill>
                  <a:srgbClr val="272525"/>
                </a:solidFill>
                <a:latin typeface="Source Sans 3" pitchFamily="34" charset="0"/>
                <a:ea typeface="Source Sans 3" pitchFamily="34" charset="-122"/>
                <a:cs typeface="Source Sans 3" pitchFamily="34" charset="-120"/>
              </a:rPr>
              <a:t>Students earn Experience Points (XP) for various academic activities, making learning a rewarding pursuit.</a:t>
            </a:r>
            <a:endParaRPr lang="en-US" sz="1150" dirty="0"/>
          </a:p>
        </p:txBody>
      </p:sp>
      <p:sp>
        <p:nvSpPr>
          <p:cNvPr id="11" name="Text 7"/>
          <p:cNvSpPr/>
          <p:nvPr/>
        </p:nvSpPr>
        <p:spPr>
          <a:xfrm>
            <a:off x="515183" y="3462814"/>
            <a:ext cx="147161" cy="183952"/>
          </a:xfrm>
          <a:prstGeom prst="rect">
            <a:avLst/>
          </a:prstGeom>
          <a:noFill/>
          <a:ln/>
        </p:spPr>
        <p:txBody>
          <a:bodyPr wrap="none" lIns="0" tIns="0" rIns="0" bIns="0" rtlCol="0" anchor="t"/>
          <a:lstStyle/>
          <a:p>
            <a:pPr algn="l" indent="0" marL="0">
              <a:lnSpc>
                <a:spcPts val="1450"/>
              </a:lnSpc>
              <a:buNone/>
            </a:pPr>
            <a:r>
              <a:rPr lang="en-US" sz="1150" dirty="0">
                <a:solidFill>
                  <a:srgbClr val="272525"/>
                </a:solidFill>
                <a:latin typeface="Source Serif 4 Light" pitchFamily="34" charset="0"/>
                <a:ea typeface="Source Serif 4 Light" pitchFamily="34" charset="-122"/>
                <a:cs typeface="Source Serif 4 Light" pitchFamily="34" charset="-120"/>
              </a:rPr>
              <a:t>02</a:t>
            </a:r>
            <a:endParaRPr lang="en-US" sz="1150" dirty="0"/>
          </a:p>
        </p:txBody>
      </p:sp>
      <p:sp>
        <p:nvSpPr>
          <p:cNvPr id="12" name="Shape 8"/>
          <p:cNvSpPr/>
          <p:nvPr/>
        </p:nvSpPr>
        <p:spPr>
          <a:xfrm>
            <a:off x="515183" y="3697724"/>
            <a:ext cx="8113633" cy="15240"/>
          </a:xfrm>
          <a:prstGeom prst="rect">
            <a:avLst/>
          </a:prstGeom>
          <a:solidFill>
            <a:srgbClr val="BE49DF"/>
          </a:solidFill>
          <a:ln/>
        </p:spPr>
      </p:sp>
      <p:sp>
        <p:nvSpPr>
          <p:cNvPr id="13" name="Text 9"/>
          <p:cNvSpPr/>
          <p:nvPr/>
        </p:nvSpPr>
        <p:spPr>
          <a:xfrm>
            <a:off x="515183" y="3801785"/>
            <a:ext cx="1965841" cy="216456"/>
          </a:xfrm>
          <a:prstGeom prst="rect">
            <a:avLst/>
          </a:prstGeom>
          <a:noFill/>
          <a:ln/>
        </p:spPr>
        <p:txBody>
          <a:bodyPr wrap="none" lIns="0" tIns="0" rIns="0" bIns="0" rtlCol="0" anchor="t"/>
          <a:lstStyle/>
          <a:p>
            <a:pPr algn="l" indent="0" marL="0">
              <a:lnSpc>
                <a:spcPts val="1700"/>
              </a:lnSpc>
              <a:buNone/>
            </a:pPr>
            <a:r>
              <a:rPr lang="en-US" sz="1350" dirty="0">
                <a:solidFill>
                  <a:srgbClr val="272525"/>
                </a:solidFill>
                <a:latin typeface="Source Serif 4 Semi Bold" pitchFamily="34" charset="0"/>
                <a:ea typeface="Source Serif 4 Semi Bold" pitchFamily="34" charset="-122"/>
                <a:cs typeface="Source Serif 4 Semi Bold" pitchFamily="34" charset="-120"/>
              </a:rPr>
              <a:t>Activity-Based Rewards</a:t>
            </a:r>
            <a:endParaRPr lang="en-US" sz="1350" dirty="0"/>
          </a:p>
        </p:txBody>
      </p:sp>
      <p:sp>
        <p:nvSpPr>
          <p:cNvPr id="14" name="Text 10"/>
          <p:cNvSpPr/>
          <p:nvPr/>
        </p:nvSpPr>
        <p:spPr>
          <a:xfrm>
            <a:off x="515183" y="4072533"/>
            <a:ext cx="8113633" cy="570666"/>
          </a:xfrm>
          <a:prstGeom prst="rect">
            <a:avLst/>
          </a:prstGeom>
          <a:noFill/>
          <a:ln/>
        </p:spPr>
        <p:txBody>
          <a:bodyPr wrap="square" lIns="0" tIns="0" rIns="0" bIns="0" rtlCol="0" anchor="t"/>
          <a:lstStyle/>
          <a:p>
            <a:pPr algn="l" marL="342900" indent="-342900">
              <a:lnSpc>
                <a:spcPts val="1450"/>
              </a:lnSpc>
              <a:buSzPct val="100000"/>
              <a:buChar char="•"/>
            </a:pPr>
            <a:r>
              <a:rPr lang="en-US" sz="1150" dirty="0">
                <a:solidFill>
                  <a:srgbClr val="272525"/>
                </a:solidFill>
                <a:latin typeface="Source Sans 3" pitchFamily="34" charset="0"/>
                <a:ea typeface="Source Sans 3" pitchFamily="34" charset="-122"/>
                <a:cs typeface="Source Sans 3" pitchFamily="34" charset="-120"/>
              </a:rPr>
              <a:t>Enroll in a Course: </a:t>
            </a:r>
            <a:pPr algn="l" indent="0" marL="0">
              <a:lnSpc>
                <a:spcPts val="1450"/>
              </a:lnSpc>
              <a:buNone/>
            </a:pPr>
            <a:r>
              <a:rPr lang="en-US" sz="1150" b="1" dirty="0">
                <a:solidFill>
                  <a:srgbClr val="272525"/>
                </a:solidFill>
                <a:latin typeface="Source Sans 3" pitchFamily="34" charset="0"/>
                <a:ea typeface="Source Sans 3" pitchFamily="34" charset="-122"/>
                <a:cs typeface="Source Sans 3" pitchFamily="34" charset="-120"/>
              </a:rPr>
              <a:t>50 XP</a:t>
            </a:r>
            <a:endParaRPr lang="en-US" sz="1150" dirty="0"/>
          </a:p>
          <a:p>
            <a:pPr algn="l" marL="342900" indent="-342900">
              <a:lnSpc>
                <a:spcPts val="1450"/>
              </a:lnSpc>
              <a:buSzPct val="100000"/>
              <a:buChar char="•"/>
            </a:pPr>
            <a:r>
              <a:rPr lang="en-US" sz="1150" dirty="0">
                <a:solidFill>
                  <a:srgbClr val="272525"/>
                </a:solidFill>
                <a:latin typeface="Source Sans 3" pitchFamily="34" charset="0"/>
                <a:ea typeface="Source Sans 3" pitchFamily="34" charset="-122"/>
                <a:cs typeface="Source Sans 3" pitchFamily="34" charset="-120"/>
              </a:rPr>
              <a:t>Note Approved by Teacher: </a:t>
            </a:r>
            <a:pPr algn="l" indent="0" marL="0">
              <a:lnSpc>
                <a:spcPts val="1450"/>
              </a:lnSpc>
              <a:buNone/>
            </a:pPr>
            <a:r>
              <a:rPr lang="en-US" sz="1150" b="1" dirty="0">
                <a:solidFill>
                  <a:srgbClr val="272525"/>
                </a:solidFill>
                <a:latin typeface="Source Sans 3" pitchFamily="34" charset="0"/>
                <a:ea typeface="Source Sans 3" pitchFamily="34" charset="-122"/>
                <a:cs typeface="Source Sans 3" pitchFamily="34" charset="-120"/>
              </a:rPr>
              <a:t>30 XP</a:t>
            </a:r>
            <a:endParaRPr lang="en-US" sz="1150" dirty="0"/>
          </a:p>
          <a:p>
            <a:pPr algn="l" marL="342900" indent="-342900">
              <a:lnSpc>
                <a:spcPts val="1450"/>
              </a:lnSpc>
              <a:buSzPct val="100000"/>
              <a:buChar char="•"/>
            </a:pPr>
            <a:r>
              <a:rPr lang="en-US" sz="1150" dirty="0">
                <a:solidFill>
                  <a:srgbClr val="272525"/>
                </a:solidFill>
                <a:latin typeface="Source Sans 3" pitchFamily="34" charset="0"/>
                <a:ea typeface="Source Sans 3" pitchFamily="34" charset="-122"/>
                <a:cs typeface="Source Sans 3" pitchFamily="34" charset="-120"/>
              </a:rPr>
              <a:t>Receiving Upvotes on Notes: Tiered rewards (up to </a:t>
            </a:r>
            <a:pPr algn="l" indent="0" marL="0">
              <a:lnSpc>
                <a:spcPts val="1450"/>
              </a:lnSpc>
              <a:buNone/>
            </a:pPr>
            <a:r>
              <a:rPr lang="en-US" sz="1150" b="1" dirty="0">
                <a:solidFill>
                  <a:srgbClr val="272525"/>
                </a:solidFill>
                <a:latin typeface="Source Sans 3" pitchFamily="34" charset="0"/>
                <a:ea typeface="Source Sans 3" pitchFamily="34" charset="-122"/>
                <a:cs typeface="Source Sans 3" pitchFamily="34" charset="-120"/>
              </a:rPr>
              <a:t>10 XP/vote</a:t>
            </a:r>
            <a:pPr algn="l" indent="0" marL="0">
              <a:lnSpc>
                <a:spcPts val="1450"/>
              </a:lnSpc>
              <a:buNone/>
            </a:pPr>
            <a:r>
              <a:rPr lang="en-US" sz="1150" dirty="0">
                <a:solidFill>
                  <a:srgbClr val="272525"/>
                </a:solidFill>
                <a:latin typeface="Source Sans 3" pitchFamily="34" charset="0"/>
                <a:ea typeface="Source Sans 3" pitchFamily="34" charset="-122"/>
                <a:cs typeface="Source Sans 3" pitchFamily="34" charset="-120"/>
              </a:rPr>
              <a:t>)</a:t>
            </a:r>
            <a:endParaRPr lang="en-US" sz="1150" dirty="0"/>
          </a:p>
        </p:txBody>
      </p:sp>
      <p:sp>
        <p:nvSpPr>
          <p:cNvPr id="15" name="Text 11"/>
          <p:cNvSpPr/>
          <p:nvPr/>
        </p:nvSpPr>
        <p:spPr>
          <a:xfrm>
            <a:off x="515183" y="4844057"/>
            <a:ext cx="147161" cy="183952"/>
          </a:xfrm>
          <a:prstGeom prst="rect">
            <a:avLst/>
          </a:prstGeom>
          <a:noFill/>
          <a:ln/>
        </p:spPr>
        <p:txBody>
          <a:bodyPr wrap="none" lIns="0" tIns="0" rIns="0" bIns="0" rtlCol="0" anchor="t"/>
          <a:lstStyle/>
          <a:p>
            <a:pPr algn="l" indent="0" marL="0">
              <a:lnSpc>
                <a:spcPts val="1450"/>
              </a:lnSpc>
              <a:buNone/>
            </a:pPr>
            <a:r>
              <a:rPr lang="en-US" sz="1150" dirty="0">
                <a:solidFill>
                  <a:srgbClr val="272525"/>
                </a:solidFill>
                <a:latin typeface="Source Serif 4 Light" pitchFamily="34" charset="0"/>
                <a:ea typeface="Source Serif 4 Light" pitchFamily="34" charset="-122"/>
                <a:cs typeface="Source Serif 4 Light" pitchFamily="34" charset="-120"/>
              </a:rPr>
              <a:t>03</a:t>
            </a:r>
            <a:endParaRPr lang="en-US" sz="1150" dirty="0"/>
          </a:p>
        </p:txBody>
      </p:sp>
      <p:sp>
        <p:nvSpPr>
          <p:cNvPr id="16" name="Shape 12"/>
          <p:cNvSpPr/>
          <p:nvPr/>
        </p:nvSpPr>
        <p:spPr>
          <a:xfrm>
            <a:off x="515183" y="5078967"/>
            <a:ext cx="8113633" cy="15240"/>
          </a:xfrm>
          <a:prstGeom prst="rect">
            <a:avLst/>
          </a:prstGeom>
          <a:solidFill>
            <a:srgbClr val="BE49DF"/>
          </a:solidFill>
          <a:ln/>
        </p:spPr>
      </p:sp>
      <p:sp>
        <p:nvSpPr>
          <p:cNvPr id="17" name="Text 13"/>
          <p:cNvSpPr/>
          <p:nvPr/>
        </p:nvSpPr>
        <p:spPr>
          <a:xfrm>
            <a:off x="515183" y="5183028"/>
            <a:ext cx="1732002" cy="216456"/>
          </a:xfrm>
          <a:prstGeom prst="rect">
            <a:avLst/>
          </a:prstGeom>
          <a:noFill/>
          <a:ln/>
        </p:spPr>
        <p:txBody>
          <a:bodyPr wrap="none" lIns="0" tIns="0" rIns="0" bIns="0" rtlCol="0" anchor="t"/>
          <a:lstStyle/>
          <a:p>
            <a:pPr algn="l" indent="0" marL="0">
              <a:lnSpc>
                <a:spcPts val="1700"/>
              </a:lnSpc>
              <a:buNone/>
            </a:pPr>
            <a:r>
              <a:rPr lang="en-US" sz="1350" dirty="0">
                <a:solidFill>
                  <a:srgbClr val="272525"/>
                </a:solidFill>
                <a:latin typeface="Source Serif 4 Semi Bold" pitchFamily="34" charset="0"/>
                <a:ea typeface="Source Serif 4 Semi Bold" pitchFamily="34" charset="-122"/>
                <a:cs typeface="Source Serif 4 Semi Bold" pitchFamily="34" charset="-120"/>
              </a:rPr>
              <a:t>Progressive Leveling</a:t>
            </a:r>
            <a:endParaRPr lang="en-US" sz="1350" dirty="0"/>
          </a:p>
        </p:txBody>
      </p:sp>
      <p:sp>
        <p:nvSpPr>
          <p:cNvPr id="18" name="Text 14"/>
          <p:cNvSpPr/>
          <p:nvPr/>
        </p:nvSpPr>
        <p:spPr>
          <a:xfrm>
            <a:off x="515183" y="5453776"/>
            <a:ext cx="8113633" cy="190262"/>
          </a:xfrm>
          <a:prstGeom prst="rect">
            <a:avLst/>
          </a:prstGeom>
          <a:noFill/>
          <a:ln/>
        </p:spPr>
        <p:txBody>
          <a:bodyPr wrap="none" lIns="0" tIns="0" rIns="0" bIns="0" rtlCol="0" anchor="t"/>
          <a:lstStyle/>
          <a:p>
            <a:pPr algn="l" indent="0" marL="0">
              <a:lnSpc>
                <a:spcPts val="1450"/>
              </a:lnSpc>
              <a:buNone/>
            </a:pPr>
            <a:r>
              <a:rPr lang="en-US" sz="1150" dirty="0">
                <a:solidFill>
                  <a:srgbClr val="272525"/>
                </a:solidFill>
                <a:latin typeface="Source Sans 3" pitchFamily="34" charset="0"/>
                <a:ea typeface="Source Sans 3" pitchFamily="34" charset="-122"/>
                <a:cs typeface="Source Sans 3" pitchFamily="34" charset="-120"/>
              </a:rPr>
              <a:t>A continuous leveling system where your Level is calculated as your Total XP divided by 100.</a:t>
            </a:r>
            <a:endParaRPr lang="en-US" sz="1150" dirty="0"/>
          </a:p>
        </p:txBody>
      </p:sp>
      <p:sp>
        <p:nvSpPr>
          <p:cNvPr id="19" name="Text 15"/>
          <p:cNvSpPr/>
          <p:nvPr/>
        </p:nvSpPr>
        <p:spPr>
          <a:xfrm>
            <a:off x="515183" y="5844896"/>
            <a:ext cx="147161" cy="183952"/>
          </a:xfrm>
          <a:prstGeom prst="rect">
            <a:avLst/>
          </a:prstGeom>
          <a:noFill/>
          <a:ln/>
        </p:spPr>
        <p:txBody>
          <a:bodyPr wrap="none" lIns="0" tIns="0" rIns="0" bIns="0" rtlCol="0" anchor="t"/>
          <a:lstStyle/>
          <a:p>
            <a:pPr algn="l" indent="0" marL="0">
              <a:lnSpc>
                <a:spcPts val="1450"/>
              </a:lnSpc>
              <a:buNone/>
            </a:pPr>
            <a:r>
              <a:rPr lang="en-US" sz="1150" dirty="0">
                <a:solidFill>
                  <a:srgbClr val="272525"/>
                </a:solidFill>
                <a:latin typeface="Source Serif 4 Light" pitchFamily="34" charset="0"/>
                <a:ea typeface="Source Serif 4 Light" pitchFamily="34" charset="-122"/>
                <a:cs typeface="Source Serif 4 Light" pitchFamily="34" charset="-120"/>
              </a:rPr>
              <a:t>04</a:t>
            </a:r>
            <a:endParaRPr lang="en-US" sz="1150" dirty="0"/>
          </a:p>
        </p:txBody>
      </p:sp>
      <p:sp>
        <p:nvSpPr>
          <p:cNvPr id="20" name="Shape 16"/>
          <p:cNvSpPr/>
          <p:nvPr/>
        </p:nvSpPr>
        <p:spPr>
          <a:xfrm>
            <a:off x="515183" y="6079807"/>
            <a:ext cx="8113633" cy="15240"/>
          </a:xfrm>
          <a:prstGeom prst="rect">
            <a:avLst/>
          </a:prstGeom>
          <a:solidFill>
            <a:srgbClr val="BE49DF"/>
          </a:solidFill>
          <a:ln/>
        </p:spPr>
      </p:sp>
      <p:sp>
        <p:nvSpPr>
          <p:cNvPr id="21" name="Text 17"/>
          <p:cNvSpPr/>
          <p:nvPr/>
        </p:nvSpPr>
        <p:spPr>
          <a:xfrm>
            <a:off x="515183" y="6183867"/>
            <a:ext cx="1732002" cy="216456"/>
          </a:xfrm>
          <a:prstGeom prst="rect">
            <a:avLst/>
          </a:prstGeom>
          <a:noFill/>
          <a:ln/>
        </p:spPr>
        <p:txBody>
          <a:bodyPr wrap="none" lIns="0" tIns="0" rIns="0" bIns="0" rtlCol="0" anchor="t"/>
          <a:lstStyle/>
          <a:p>
            <a:pPr algn="l" indent="0" marL="0">
              <a:lnSpc>
                <a:spcPts val="1700"/>
              </a:lnSpc>
              <a:buNone/>
            </a:pPr>
            <a:r>
              <a:rPr lang="en-US" sz="1350" dirty="0">
                <a:solidFill>
                  <a:srgbClr val="272525"/>
                </a:solidFill>
                <a:latin typeface="Source Serif 4 Semi Bold" pitchFamily="34" charset="0"/>
                <a:ea typeface="Source Serif 4 Semi Bold" pitchFamily="34" charset="-122"/>
                <a:cs typeface="Source Serif 4 Semi Bold" pitchFamily="34" charset="-120"/>
              </a:rPr>
              <a:t>Visual Motivation</a:t>
            </a:r>
            <a:endParaRPr lang="en-US" sz="1350" dirty="0"/>
          </a:p>
        </p:txBody>
      </p:sp>
      <p:sp>
        <p:nvSpPr>
          <p:cNvPr id="22" name="Text 18"/>
          <p:cNvSpPr/>
          <p:nvPr/>
        </p:nvSpPr>
        <p:spPr>
          <a:xfrm>
            <a:off x="515183" y="6454615"/>
            <a:ext cx="8113633" cy="190262"/>
          </a:xfrm>
          <a:prstGeom prst="rect">
            <a:avLst/>
          </a:prstGeom>
          <a:noFill/>
          <a:ln/>
        </p:spPr>
        <p:txBody>
          <a:bodyPr wrap="none" lIns="0" tIns="0" rIns="0" bIns="0" rtlCol="0" anchor="t"/>
          <a:lstStyle/>
          <a:p>
            <a:pPr algn="l" indent="0" marL="0">
              <a:lnSpc>
                <a:spcPts val="1450"/>
              </a:lnSpc>
              <a:buNone/>
            </a:pPr>
            <a:r>
              <a:rPr lang="en-US" sz="1150" dirty="0">
                <a:solidFill>
                  <a:srgbClr val="272525"/>
                </a:solidFill>
                <a:latin typeface="Source Sans 3" pitchFamily="34" charset="0"/>
                <a:ea typeface="Source Sans 3" pitchFamily="34" charset="-122"/>
                <a:cs typeface="Source Sans 3" pitchFamily="34" charset="-120"/>
              </a:rPr>
              <a:t>Visual progress bars and distinctive level badges provide clear indicators of achievement and encourage continued participation.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Shape 0"/>
          <p:cNvSpPr/>
          <p:nvPr/>
        </p:nvSpPr>
        <p:spPr>
          <a:xfrm>
            <a:off x="9144000" y="0"/>
            <a:ext cx="5486400" cy="8229600"/>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9144000" y="0"/>
            <a:ext cx="5486400" cy="8229600"/>
          </a:xfrm>
          <a:prstGeom prst="rect">
            <a:avLst/>
          </a:prstGeom>
        </p:spPr>
      </p:pic>
      <p:sp>
        <p:nvSpPr>
          <p:cNvPr id="5" name="Text 1"/>
          <p:cNvSpPr/>
          <p:nvPr/>
        </p:nvSpPr>
        <p:spPr>
          <a:xfrm>
            <a:off x="714137" y="1308378"/>
            <a:ext cx="6068973" cy="600075"/>
          </a:xfrm>
          <a:prstGeom prst="rect">
            <a:avLst/>
          </a:prstGeom>
          <a:noFill/>
          <a:ln/>
        </p:spPr>
        <p:txBody>
          <a:bodyPr wrap="none" lIns="0" tIns="0" rIns="0" bIns="0" rtlCol="0" anchor="t"/>
          <a:lstStyle/>
          <a:p>
            <a:pPr algn="l" indent="0" marL="0">
              <a:lnSpc>
                <a:spcPts val="4700"/>
              </a:lnSpc>
              <a:buNone/>
            </a:pPr>
            <a:r>
              <a:rPr lang="en-US" sz="3750" dirty="0">
                <a:solidFill>
                  <a:srgbClr val="000000"/>
                </a:solidFill>
                <a:latin typeface="Source Serif 4 Semi Bold" pitchFamily="34" charset="0"/>
                <a:ea typeface="Source Serif 4 Semi Bold" pitchFamily="34" charset="-122"/>
                <a:cs typeface="Source Serif 4 Semi Bold" pitchFamily="34" charset="-120"/>
              </a:rPr>
              <a:t>Top Students Leaderboard</a:t>
            </a:r>
            <a:endParaRPr lang="en-US" sz="3750" dirty="0"/>
          </a:p>
        </p:txBody>
      </p:sp>
      <p:sp>
        <p:nvSpPr>
          <p:cNvPr id="6" name="Text 2"/>
          <p:cNvSpPr/>
          <p:nvPr/>
        </p:nvSpPr>
        <p:spPr>
          <a:xfrm>
            <a:off x="714137" y="2169319"/>
            <a:ext cx="7715726" cy="604838"/>
          </a:xfrm>
          <a:prstGeom prst="rect">
            <a:avLst/>
          </a:prstGeom>
          <a:noFill/>
          <a:ln/>
        </p:spPr>
        <p:txBody>
          <a:bodyPr wrap="square" lIns="0" tIns="0" rIns="0" bIns="0" rtlCol="0" anchor="t"/>
          <a:lstStyle/>
          <a:p>
            <a:pPr algn="l" indent="0" marL="0">
              <a:lnSpc>
                <a:spcPts val="2350"/>
              </a:lnSpc>
              <a:buNone/>
            </a:pPr>
            <a:r>
              <a:rPr lang="en-US" sz="1600" dirty="0">
                <a:solidFill>
                  <a:srgbClr val="272525"/>
                </a:solidFill>
                <a:latin typeface="Source Sans 3" pitchFamily="34" charset="0"/>
                <a:ea typeface="Source Sans 3" pitchFamily="34" charset="-122"/>
                <a:cs typeface="Source Sans 3" pitchFamily="34" charset="-120"/>
              </a:rPr>
              <a:t>The Leaderboard feature cultivates a healthy competitive spirit and recognizes top academic performers within the Uniflow community.</a:t>
            </a:r>
            <a:endParaRPr lang="en-US" sz="1600" dirty="0"/>
          </a:p>
        </p:txBody>
      </p:sp>
      <p:sp>
        <p:nvSpPr>
          <p:cNvPr id="7" name="Text 3"/>
          <p:cNvSpPr/>
          <p:nvPr/>
        </p:nvSpPr>
        <p:spPr>
          <a:xfrm>
            <a:off x="714137" y="3143607"/>
            <a:ext cx="2880598" cy="359926"/>
          </a:xfrm>
          <a:prstGeom prst="rect">
            <a:avLst/>
          </a:prstGeom>
          <a:noFill/>
          <a:ln/>
        </p:spPr>
        <p:txBody>
          <a:bodyPr wrap="none" lIns="0" tIns="0" rIns="0" bIns="0" rtlCol="0" anchor="t"/>
          <a:lstStyle/>
          <a:p>
            <a:pPr algn="l" indent="0" marL="0">
              <a:lnSpc>
                <a:spcPts val="2800"/>
              </a:lnSpc>
              <a:buNone/>
            </a:pPr>
            <a:r>
              <a:rPr lang="en-US" sz="2250" dirty="0">
                <a:solidFill>
                  <a:srgbClr val="000000"/>
                </a:solidFill>
                <a:latin typeface="Source Serif 4 Semi Bold" pitchFamily="34" charset="0"/>
                <a:ea typeface="Source Serif 4 Semi Bold" pitchFamily="34" charset="-122"/>
                <a:cs typeface="Source Serif 4 Semi Bold" pitchFamily="34" charset="-120"/>
              </a:rPr>
              <a:t>Real-Time Rankings</a:t>
            </a:r>
            <a:endParaRPr lang="en-US" sz="2250" dirty="0"/>
          </a:p>
        </p:txBody>
      </p:sp>
      <p:sp>
        <p:nvSpPr>
          <p:cNvPr id="8" name="Text 4"/>
          <p:cNvSpPr/>
          <p:nvPr/>
        </p:nvSpPr>
        <p:spPr>
          <a:xfrm>
            <a:off x="714137" y="3677364"/>
            <a:ext cx="3609023" cy="1209675"/>
          </a:xfrm>
          <a:prstGeom prst="rect">
            <a:avLst/>
          </a:prstGeom>
          <a:noFill/>
          <a:ln/>
        </p:spPr>
        <p:txBody>
          <a:bodyPr wrap="square" lIns="0" tIns="0" rIns="0" bIns="0" rtlCol="0" anchor="t"/>
          <a:lstStyle/>
          <a:p>
            <a:pPr algn="l" indent="0" marL="0">
              <a:lnSpc>
                <a:spcPts val="2350"/>
              </a:lnSpc>
              <a:buNone/>
            </a:pPr>
            <a:r>
              <a:rPr lang="en-US" sz="1600" dirty="0">
                <a:solidFill>
                  <a:srgbClr val="272525"/>
                </a:solidFill>
                <a:latin typeface="Source Sans 3" pitchFamily="34" charset="0"/>
                <a:ea typeface="Source Sans 3" pitchFamily="34" charset="-122"/>
                <a:cs typeface="Source Sans 3" pitchFamily="34" charset="-120"/>
              </a:rPr>
              <a:t>Students can view their standing on a dynamic leaderboard that updates in real-time, showcasing top students by their accumulated XP.</a:t>
            </a:r>
            <a:endParaRPr lang="en-US" sz="1600" dirty="0"/>
          </a:p>
        </p:txBody>
      </p:sp>
      <p:sp>
        <p:nvSpPr>
          <p:cNvPr id="9" name="Text 5"/>
          <p:cNvSpPr/>
          <p:nvPr/>
        </p:nvSpPr>
        <p:spPr>
          <a:xfrm>
            <a:off x="4828461" y="3143607"/>
            <a:ext cx="2880598" cy="359926"/>
          </a:xfrm>
          <a:prstGeom prst="rect">
            <a:avLst/>
          </a:prstGeom>
          <a:noFill/>
          <a:ln/>
        </p:spPr>
        <p:txBody>
          <a:bodyPr wrap="none" lIns="0" tIns="0" rIns="0" bIns="0" rtlCol="0" anchor="t"/>
          <a:lstStyle/>
          <a:p>
            <a:pPr algn="l" indent="0" marL="0">
              <a:lnSpc>
                <a:spcPts val="2800"/>
              </a:lnSpc>
              <a:buNone/>
            </a:pPr>
            <a:r>
              <a:rPr lang="en-US" sz="2250" dirty="0">
                <a:solidFill>
                  <a:srgbClr val="000000"/>
                </a:solidFill>
                <a:latin typeface="Source Serif 4 Semi Bold" pitchFamily="34" charset="0"/>
                <a:ea typeface="Source Serif 4 Semi Bold" pitchFamily="34" charset="-122"/>
                <a:cs typeface="Source Serif 4 Semi Bold" pitchFamily="34" charset="-120"/>
              </a:rPr>
              <a:t>Flexible Filters</a:t>
            </a:r>
            <a:endParaRPr lang="en-US" sz="2250" dirty="0"/>
          </a:p>
        </p:txBody>
      </p:sp>
      <p:sp>
        <p:nvSpPr>
          <p:cNvPr id="10" name="Text 6"/>
          <p:cNvSpPr/>
          <p:nvPr/>
        </p:nvSpPr>
        <p:spPr>
          <a:xfrm>
            <a:off x="4828461" y="3677364"/>
            <a:ext cx="3609023" cy="1209675"/>
          </a:xfrm>
          <a:prstGeom prst="rect">
            <a:avLst/>
          </a:prstGeom>
          <a:noFill/>
          <a:ln/>
        </p:spPr>
        <p:txBody>
          <a:bodyPr wrap="square" lIns="0" tIns="0" rIns="0" bIns="0" rtlCol="0" anchor="t"/>
          <a:lstStyle/>
          <a:p>
            <a:pPr algn="l" indent="0" marL="0">
              <a:lnSpc>
                <a:spcPts val="2350"/>
              </a:lnSpc>
              <a:buNone/>
            </a:pPr>
            <a:r>
              <a:rPr lang="en-US" sz="1600" dirty="0">
                <a:solidFill>
                  <a:srgbClr val="272525"/>
                </a:solidFill>
                <a:latin typeface="Source Sans 3" pitchFamily="34" charset="0"/>
                <a:ea typeface="Source Sans 3" pitchFamily="34" charset="-122"/>
                <a:cs typeface="Source Sans 3" pitchFamily="34" charset="-120"/>
              </a:rPr>
              <a:t>Filter options allow users to view global rankings or narrow down the competition to specific courses or academic cohorts, fostering relevant peer comparison.</a:t>
            </a:r>
            <a:endParaRPr lang="en-US" sz="1600" dirty="0"/>
          </a:p>
        </p:txBody>
      </p:sp>
      <p:sp>
        <p:nvSpPr>
          <p:cNvPr id="11" name="Text 7"/>
          <p:cNvSpPr/>
          <p:nvPr/>
        </p:nvSpPr>
        <p:spPr>
          <a:xfrm>
            <a:off x="1020128" y="5499973"/>
            <a:ext cx="3739634" cy="359926"/>
          </a:xfrm>
          <a:prstGeom prst="rect">
            <a:avLst/>
          </a:prstGeom>
          <a:noFill/>
          <a:ln/>
        </p:spPr>
        <p:txBody>
          <a:bodyPr wrap="none" lIns="0" tIns="0" rIns="0" bIns="0" rtlCol="0" anchor="t"/>
          <a:lstStyle/>
          <a:p>
            <a:pPr algn="l" indent="0" marL="0">
              <a:lnSpc>
                <a:spcPts val="2800"/>
              </a:lnSpc>
              <a:buNone/>
            </a:pPr>
            <a:r>
              <a:rPr lang="en-US" sz="2250" dirty="0">
                <a:solidFill>
                  <a:srgbClr val="000000"/>
                </a:solidFill>
                <a:latin typeface="Source Serif 4 Semi Bold" pitchFamily="34" charset="0"/>
                <a:ea typeface="Source Serif 4 Semi Bold" pitchFamily="34" charset="-122"/>
                <a:cs typeface="Source Serif 4 Semi Bold" pitchFamily="34" charset="-120"/>
              </a:rPr>
              <a:t>Social Proof &amp; Engagement</a:t>
            </a:r>
            <a:endParaRPr lang="en-US" sz="2250" dirty="0"/>
          </a:p>
        </p:txBody>
      </p:sp>
      <p:sp>
        <p:nvSpPr>
          <p:cNvPr id="12" name="Text 8"/>
          <p:cNvSpPr/>
          <p:nvPr/>
        </p:nvSpPr>
        <p:spPr>
          <a:xfrm>
            <a:off x="1020128" y="6120765"/>
            <a:ext cx="7409736" cy="604838"/>
          </a:xfrm>
          <a:prstGeom prst="rect">
            <a:avLst/>
          </a:prstGeom>
          <a:noFill/>
          <a:ln/>
        </p:spPr>
        <p:txBody>
          <a:bodyPr wrap="square" lIns="0" tIns="0" rIns="0" bIns="0" rtlCol="0" anchor="t"/>
          <a:lstStyle/>
          <a:p>
            <a:pPr algn="l" indent="0" marL="0">
              <a:lnSpc>
                <a:spcPts val="2350"/>
              </a:lnSpc>
              <a:buNone/>
            </a:pPr>
            <a:r>
              <a:rPr lang="en-US" sz="1600" dirty="0">
                <a:solidFill>
                  <a:srgbClr val="272525"/>
                </a:solidFill>
                <a:latin typeface="Source Sans 3" pitchFamily="34" charset="0"/>
                <a:ea typeface="Source Sans 3" pitchFamily="34" charset="-122"/>
                <a:cs typeface="Source Sans 3" pitchFamily="34" charset="-120"/>
              </a:rPr>
              <a:t>The leaderboard not only motivates individual achievement but also encourages social interaction and community engagement by highlighting exemplary performance.</a:t>
            </a:r>
            <a:endParaRPr lang="en-US" sz="1600" dirty="0"/>
          </a:p>
        </p:txBody>
      </p:sp>
      <p:sp>
        <p:nvSpPr>
          <p:cNvPr id="13" name="Shape 9"/>
          <p:cNvSpPr/>
          <p:nvPr/>
        </p:nvSpPr>
        <p:spPr>
          <a:xfrm>
            <a:off x="714137" y="5239107"/>
            <a:ext cx="22860" cy="1682115"/>
          </a:xfrm>
          <a:prstGeom prst="rect">
            <a:avLst/>
          </a:prstGeom>
          <a:solidFill>
            <a:srgbClr val="BE49DF"/>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Shape 0"/>
          <p:cNvSpPr/>
          <p:nvPr/>
        </p:nvSpPr>
        <p:spPr>
          <a:xfrm>
            <a:off x="0" y="0"/>
            <a:ext cx="5486400" cy="8229600"/>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sp>
        <p:nvSpPr>
          <p:cNvPr id="5" name="Text 1"/>
          <p:cNvSpPr/>
          <p:nvPr/>
        </p:nvSpPr>
        <p:spPr>
          <a:xfrm>
            <a:off x="5940862" y="1530787"/>
            <a:ext cx="6778585" cy="381833"/>
          </a:xfrm>
          <a:prstGeom prst="rect">
            <a:avLst/>
          </a:prstGeom>
          <a:noFill/>
          <a:ln/>
        </p:spPr>
        <p:txBody>
          <a:bodyPr wrap="none" lIns="0" tIns="0" rIns="0" bIns="0" rtlCol="0" anchor="t"/>
          <a:lstStyle/>
          <a:p>
            <a:pPr algn="l" indent="0" marL="0">
              <a:lnSpc>
                <a:spcPts val="3000"/>
              </a:lnSpc>
              <a:buNone/>
            </a:pPr>
            <a:r>
              <a:rPr lang="en-US" sz="2400" dirty="0">
                <a:solidFill>
                  <a:srgbClr val="000000"/>
                </a:solidFill>
                <a:latin typeface="Source Serif 4 Semi Bold" pitchFamily="34" charset="0"/>
                <a:ea typeface="Source Serif 4 Semi Bold" pitchFamily="34" charset="-122"/>
                <a:cs typeface="Source Serif 4 Semi Bold" pitchFamily="34" charset="-120"/>
              </a:rPr>
              <a:t>Tangible Rewards: Voucher &amp; Rewards System</a:t>
            </a:r>
            <a:endParaRPr lang="en-US" sz="2400" dirty="0"/>
          </a:p>
        </p:txBody>
      </p:sp>
      <p:sp>
        <p:nvSpPr>
          <p:cNvPr id="6" name="Text 2"/>
          <p:cNvSpPr/>
          <p:nvPr/>
        </p:nvSpPr>
        <p:spPr>
          <a:xfrm>
            <a:off x="5940862" y="2018228"/>
            <a:ext cx="8235077" cy="160258"/>
          </a:xfrm>
          <a:prstGeom prst="rect">
            <a:avLst/>
          </a:prstGeom>
          <a:noFill/>
          <a:ln/>
        </p:spPr>
        <p:txBody>
          <a:bodyPr wrap="none" lIns="0" tIns="0" rIns="0" bIns="0" rtlCol="0" anchor="t"/>
          <a:lstStyle/>
          <a:p>
            <a:pPr algn="l" indent="0" marL="0">
              <a:lnSpc>
                <a:spcPts val="1250"/>
              </a:lnSpc>
              <a:buNone/>
            </a:pPr>
            <a:r>
              <a:rPr lang="en-US" sz="1000" dirty="0">
                <a:solidFill>
                  <a:srgbClr val="272525"/>
                </a:solidFill>
                <a:latin typeface="Source Sans 3" pitchFamily="34" charset="0"/>
                <a:ea typeface="Source Sans 3" pitchFamily="34" charset="-122"/>
                <a:cs typeface="Source Sans 3" pitchFamily="34" charset="-120"/>
              </a:rPr>
              <a:t>Uniflow connects academic effort to real-world benefits through an exciting voucher and rewards system.</a:t>
            </a:r>
            <a:endParaRPr lang="en-US" sz="1000" dirty="0"/>
          </a:p>
        </p:txBody>
      </p:sp>
      <p:sp>
        <p:nvSpPr>
          <p:cNvPr id="7" name="Shape 3"/>
          <p:cNvSpPr/>
          <p:nvPr/>
        </p:nvSpPr>
        <p:spPr>
          <a:xfrm>
            <a:off x="5940862" y="2452330"/>
            <a:ext cx="8235077" cy="862846"/>
          </a:xfrm>
          <a:prstGeom prst="roundRect">
            <a:avLst>
              <a:gd name="adj" fmla="val 8478"/>
            </a:avLst>
          </a:prstGeom>
          <a:solidFill>
            <a:srgbClr val="FFFFFF">
              <a:alpha val="95000"/>
            </a:srgbClr>
          </a:solidFill>
          <a:ln/>
        </p:spPr>
      </p:sp>
      <p:sp>
        <p:nvSpPr>
          <p:cNvPr id="8" name="Shape 4"/>
          <p:cNvSpPr/>
          <p:nvPr/>
        </p:nvSpPr>
        <p:spPr>
          <a:xfrm>
            <a:off x="5940862" y="2437090"/>
            <a:ext cx="8235077" cy="60960"/>
          </a:xfrm>
          <a:prstGeom prst="roundRect">
            <a:avLst>
              <a:gd name="adj" fmla="val 89464"/>
            </a:avLst>
          </a:prstGeom>
          <a:solidFill>
            <a:srgbClr val="BE49DF"/>
          </a:solidFill>
          <a:ln/>
        </p:spPr>
      </p:sp>
      <p:sp>
        <p:nvSpPr>
          <p:cNvPr id="9" name="Shape 5"/>
          <p:cNvSpPr/>
          <p:nvPr/>
        </p:nvSpPr>
        <p:spPr>
          <a:xfrm>
            <a:off x="9863673" y="2257663"/>
            <a:ext cx="389453" cy="389453"/>
          </a:xfrm>
          <a:prstGeom prst="roundRect">
            <a:avLst>
              <a:gd name="adj" fmla="val 234791"/>
            </a:avLst>
          </a:prstGeom>
          <a:solidFill>
            <a:srgbClr val="BE49DF"/>
          </a:solidFill>
          <a:ln/>
        </p:spPr>
      </p:sp>
      <p:pic>
        <p:nvPicPr>
          <p:cNvPr id="10"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80474" y="2374463"/>
            <a:ext cx="155734" cy="155734"/>
          </a:xfrm>
          <a:prstGeom prst="rect">
            <a:avLst/>
          </a:prstGeom>
        </p:spPr>
      </p:pic>
      <p:sp>
        <p:nvSpPr>
          <p:cNvPr id="11" name="Text 6"/>
          <p:cNvSpPr/>
          <p:nvPr/>
        </p:nvSpPr>
        <p:spPr>
          <a:xfrm>
            <a:off x="6085880" y="2776895"/>
            <a:ext cx="1527572" cy="190857"/>
          </a:xfrm>
          <a:prstGeom prst="rect">
            <a:avLst/>
          </a:prstGeom>
          <a:noFill/>
          <a:ln/>
        </p:spPr>
        <p:txBody>
          <a:bodyPr wrap="none" lIns="0" tIns="0" rIns="0" bIns="0" rtlCol="0" anchor="t"/>
          <a:lstStyle/>
          <a:p>
            <a:pPr algn="l" indent="0" marL="0">
              <a:lnSpc>
                <a:spcPts val="1500"/>
              </a:lnSpc>
              <a:buNone/>
            </a:pPr>
            <a:r>
              <a:rPr lang="en-US" sz="1200" dirty="0">
                <a:solidFill>
                  <a:srgbClr val="272525"/>
                </a:solidFill>
                <a:latin typeface="Source Serif 4 Semi Bold" pitchFamily="34" charset="0"/>
                <a:ea typeface="Source Serif 4 Semi Bold" pitchFamily="34" charset="-122"/>
                <a:cs typeface="Source Serif 4 Semi Bold" pitchFamily="34" charset="-120"/>
              </a:rPr>
              <a:t>Milestone Rewards</a:t>
            </a:r>
            <a:endParaRPr lang="en-US" sz="1200" dirty="0"/>
          </a:p>
        </p:txBody>
      </p:sp>
      <p:sp>
        <p:nvSpPr>
          <p:cNvPr id="12" name="Text 7"/>
          <p:cNvSpPr/>
          <p:nvPr/>
        </p:nvSpPr>
        <p:spPr>
          <a:xfrm>
            <a:off x="6085880" y="3009900"/>
            <a:ext cx="7945041" cy="160258"/>
          </a:xfrm>
          <a:prstGeom prst="rect">
            <a:avLst/>
          </a:prstGeom>
          <a:noFill/>
          <a:ln/>
        </p:spPr>
        <p:txBody>
          <a:bodyPr wrap="none" lIns="0" tIns="0" rIns="0" bIns="0" rtlCol="0" anchor="t"/>
          <a:lstStyle/>
          <a:p>
            <a:pPr algn="l" indent="0" marL="0">
              <a:lnSpc>
                <a:spcPts val="1250"/>
              </a:lnSpc>
              <a:buNone/>
            </a:pPr>
            <a:r>
              <a:rPr lang="en-US" sz="1000" dirty="0">
                <a:solidFill>
                  <a:srgbClr val="272525"/>
                </a:solidFill>
                <a:latin typeface="Source Sans 3" pitchFamily="34" charset="0"/>
                <a:ea typeface="Source Sans 3" pitchFamily="34" charset="-122"/>
                <a:cs typeface="Source Sans 3" pitchFamily="34" charset="-120"/>
              </a:rPr>
              <a:t>Unlock exclusive vouchers upon reaching specific level milestones (e.g., Levels 5, 10, 15), celebrating consistent academic progress.</a:t>
            </a:r>
            <a:endParaRPr lang="en-US" sz="1000" dirty="0"/>
          </a:p>
        </p:txBody>
      </p:sp>
      <p:sp>
        <p:nvSpPr>
          <p:cNvPr id="13" name="Shape 8"/>
          <p:cNvSpPr/>
          <p:nvPr/>
        </p:nvSpPr>
        <p:spPr>
          <a:xfrm>
            <a:off x="5940862" y="3580209"/>
            <a:ext cx="8235077" cy="862846"/>
          </a:xfrm>
          <a:prstGeom prst="roundRect">
            <a:avLst>
              <a:gd name="adj" fmla="val 8478"/>
            </a:avLst>
          </a:prstGeom>
          <a:solidFill>
            <a:srgbClr val="FFFFFF">
              <a:alpha val="95000"/>
            </a:srgbClr>
          </a:solidFill>
          <a:ln/>
        </p:spPr>
      </p:sp>
      <p:sp>
        <p:nvSpPr>
          <p:cNvPr id="14" name="Shape 9"/>
          <p:cNvSpPr/>
          <p:nvPr/>
        </p:nvSpPr>
        <p:spPr>
          <a:xfrm>
            <a:off x="5940862" y="3564969"/>
            <a:ext cx="8235077" cy="60960"/>
          </a:xfrm>
          <a:prstGeom prst="roundRect">
            <a:avLst>
              <a:gd name="adj" fmla="val 89464"/>
            </a:avLst>
          </a:prstGeom>
          <a:solidFill>
            <a:srgbClr val="BE49DF"/>
          </a:solidFill>
          <a:ln/>
        </p:spPr>
      </p:sp>
      <p:sp>
        <p:nvSpPr>
          <p:cNvPr id="15" name="Shape 10"/>
          <p:cNvSpPr/>
          <p:nvPr/>
        </p:nvSpPr>
        <p:spPr>
          <a:xfrm>
            <a:off x="9863673" y="3385542"/>
            <a:ext cx="389453" cy="389453"/>
          </a:xfrm>
          <a:prstGeom prst="roundRect">
            <a:avLst>
              <a:gd name="adj" fmla="val 234791"/>
            </a:avLst>
          </a:prstGeom>
          <a:solidFill>
            <a:srgbClr val="BE49DF"/>
          </a:solidFill>
          <a:ln/>
        </p:spPr>
      </p:sp>
      <p:pic>
        <p:nvPicPr>
          <p:cNvPr id="16"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80474" y="3502343"/>
            <a:ext cx="155734" cy="155734"/>
          </a:xfrm>
          <a:prstGeom prst="rect">
            <a:avLst/>
          </a:prstGeom>
        </p:spPr>
      </p:pic>
      <p:sp>
        <p:nvSpPr>
          <p:cNvPr id="17" name="Text 11"/>
          <p:cNvSpPr/>
          <p:nvPr/>
        </p:nvSpPr>
        <p:spPr>
          <a:xfrm>
            <a:off x="6085880" y="3904774"/>
            <a:ext cx="1527572" cy="190857"/>
          </a:xfrm>
          <a:prstGeom prst="rect">
            <a:avLst/>
          </a:prstGeom>
          <a:noFill/>
          <a:ln/>
        </p:spPr>
        <p:txBody>
          <a:bodyPr wrap="none" lIns="0" tIns="0" rIns="0" bIns="0" rtlCol="0" anchor="t"/>
          <a:lstStyle/>
          <a:p>
            <a:pPr algn="l" indent="0" marL="0">
              <a:lnSpc>
                <a:spcPts val="1500"/>
              </a:lnSpc>
              <a:buNone/>
            </a:pPr>
            <a:r>
              <a:rPr lang="en-US" sz="1200" dirty="0">
                <a:solidFill>
                  <a:srgbClr val="272525"/>
                </a:solidFill>
                <a:latin typeface="Source Serif 4 Semi Bold" pitchFamily="34" charset="0"/>
                <a:ea typeface="Source Serif 4 Semi Bold" pitchFamily="34" charset="-122"/>
                <a:cs typeface="Source Serif 4 Semi Bold" pitchFamily="34" charset="-120"/>
              </a:rPr>
              <a:t>Partner Integration</a:t>
            </a:r>
            <a:endParaRPr lang="en-US" sz="1200" dirty="0"/>
          </a:p>
        </p:txBody>
      </p:sp>
      <p:sp>
        <p:nvSpPr>
          <p:cNvPr id="18" name="Text 12"/>
          <p:cNvSpPr/>
          <p:nvPr/>
        </p:nvSpPr>
        <p:spPr>
          <a:xfrm>
            <a:off x="6085880" y="4137779"/>
            <a:ext cx="7945041" cy="160258"/>
          </a:xfrm>
          <a:prstGeom prst="rect">
            <a:avLst/>
          </a:prstGeom>
          <a:noFill/>
          <a:ln/>
        </p:spPr>
        <p:txBody>
          <a:bodyPr wrap="none" lIns="0" tIns="0" rIns="0" bIns="0" rtlCol="0" anchor="t"/>
          <a:lstStyle/>
          <a:p>
            <a:pPr algn="l" indent="0" marL="0">
              <a:lnSpc>
                <a:spcPts val="1250"/>
              </a:lnSpc>
              <a:buNone/>
            </a:pPr>
            <a:r>
              <a:rPr lang="en-US" sz="1000" dirty="0">
                <a:solidFill>
                  <a:srgbClr val="272525"/>
                </a:solidFill>
                <a:latin typeface="Source Sans 3" pitchFamily="34" charset="0"/>
                <a:ea typeface="Source Sans 3" pitchFamily="34" charset="-122"/>
                <a:cs typeface="Source Sans 3" pitchFamily="34" charset="-120"/>
              </a:rPr>
              <a:t>Our rewards are seamlessly managed via a dedicated VoucherService and integrated database, ensuring smooth operations.</a:t>
            </a:r>
            <a:endParaRPr lang="en-US" sz="1000" dirty="0"/>
          </a:p>
        </p:txBody>
      </p:sp>
      <p:sp>
        <p:nvSpPr>
          <p:cNvPr id="19" name="Shape 13"/>
          <p:cNvSpPr/>
          <p:nvPr/>
        </p:nvSpPr>
        <p:spPr>
          <a:xfrm>
            <a:off x="5940862" y="4708088"/>
            <a:ext cx="8235077" cy="862846"/>
          </a:xfrm>
          <a:prstGeom prst="roundRect">
            <a:avLst>
              <a:gd name="adj" fmla="val 8478"/>
            </a:avLst>
          </a:prstGeom>
          <a:solidFill>
            <a:srgbClr val="FFFFFF">
              <a:alpha val="95000"/>
            </a:srgbClr>
          </a:solidFill>
          <a:ln/>
        </p:spPr>
      </p:sp>
      <p:sp>
        <p:nvSpPr>
          <p:cNvPr id="20" name="Shape 14"/>
          <p:cNvSpPr/>
          <p:nvPr/>
        </p:nvSpPr>
        <p:spPr>
          <a:xfrm>
            <a:off x="5940862" y="4692848"/>
            <a:ext cx="8235077" cy="60960"/>
          </a:xfrm>
          <a:prstGeom prst="roundRect">
            <a:avLst>
              <a:gd name="adj" fmla="val 89464"/>
            </a:avLst>
          </a:prstGeom>
          <a:solidFill>
            <a:srgbClr val="BE49DF"/>
          </a:solidFill>
          <a:ln/>
        </p:spPr>
      </p:sp>
      <p:sp>
        <p:nvSpPr>
          <p:cNvPr id="21" name="Shape 15"/>
          <p:cNvSpPr/>
          <p:nvPr/>
        </p:nvSpPr>
        <p:spPr>
          <a:xfrm>
            <a:off x="9863673" y="4513421"/>
            <a:ext cx="389453" cy="389453"/>
          </a:xfrm>
          <a:prstGeom prst="roundRect">
            <a:avLst>
              <a:gd name="adj" fmla="val 234791"/>
            </a:avLst>
          </a:prstGeom>
          <a:solidFill>
            <a:srgbClr val="BE49DF"/>
          </a:solidFill>
          <a:ln/>
        </p:spPr>
      </p:sp>
      <p:pic>
        <p:nvPicPr>
          <p:cNvPr id="22"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80474" y="4630222"/>
            <a:ext cx="155734" cy="155734"/>
          </a:xfrm>
          <a:prstGeom prst="rect">
            <a:avLst/>
          </a:prstGeom>
        </p:spPr>
      </p:pic>
      <p:sp>
        <p:nvSpPr>
          <p:cNvPr id="23" name="Text 16"/>
          <p:cNvSpPr/>
          <p:nvPr/>
        </p:nvSpPr>
        <p:spPr>
          <a:xfrm>
            <a:off x="6085880" y="5032653"/>
            <a:ext cx="1647587" cy="190857"/>
          </a:xfrm>
          <a:prstGeom prst="rect">
            <a:avLst/>
          </a:prstGeom>
          <a:noFill/>
          <a:ln/>
        </p:spPr>
        <p:txBody>
          <a:bodyPr wrap="none" lIns="0" tIns="0" rIns="0" bIns="0" rtlCol="0" anchor="t"/>
          <a:lstStyle/>
          <a:p>
            <a:pPr algn="l" indent="0" marL="0">
              <a:lnSpc>
                <a:spcPts val="1500"/>
              </a:lnSpc>
              <a:buNone/>
            </a:pPr>
            <a:r>
              <a:rPr lang="en-US" sz="1200" dirty="0">
                <a:solidFill>
                  <a:srgbClr val="272525"/>
                </a:solidFill>
                <a:latin typeface="Source Serif 4 Semi Bold" pitchFamily="34" charset="0"/>
                <a:ea typeface="Source Serif 4 Semi Bold" pitchFamily="34" charset="-122"/>
                <a:cs typeface="Source Serif 4 Semi Bold" pitchFamily="34" charset="-120"/>
              </a:rPr>
              <a:t>Effortless Redemption</a:t>
            </a:r>
            <a:endParaRPr lang="en-US" sz="1200" dirty="0"/>
          </a:p>
        </p:txBody>
      </p:sp>
      <p:sp>
        <p:nvSpPr>
          <p:cNvPr id="24" name="Text 17"/>
          <p:cNvSpPr/>
          <p:nvPr/>
        </p:nvSpPr>
        <p:spPr>
          <a:xfrm>
            <a:off x="6085880" y="5265658"/>
            <a:ext cx="7945041" cy="160258"/>
          </a:xfrm>
          <a:prstGeom prst="rect">
            <a:avLst/>
          </a:prstGeom>
          <a:noFill/>
          <a:ln/>
        </p:spPr>
        <p:txBody>
          <a:bodyPr wrap="none" lIns="0" tIns="0" rIns="0" bIns="0" rtlCol="0" anchor="t"/>
          <a:lstStyle/>
          <a:p>
            <a:pPr algn="l" indent="0" marL="0">
              <a:lnSpc>
                <a:spcPts val="1250"/>
              </a:lnSpc>
              <a:buNone/>
            </a:pPr>
            <a:r>
              <a:rPr lang="en-US" sz="1000" dirty="0">
                <a:solidFill>
                  <a:srgbClr val="272525"/>
                </a:solidFill>
                <a:latin typeface="Source Sans 3" pitchFamily="34" charset="0"/>
                <a:ea typeface="Source Sans 3" pitchFamily="34" charset="-122"/>
                <a:cs typeface="Source Sans 3" pitchFamily="34" charset="-120"/>
              </a:rPr>
              <a:t>Unique voucher codes are delivered directly to users via the system's notification center, making redemption simple and convenient.</a:t>
            </a:r>
            <a:endParaRPr lang="en-US" sz="1000" dirty="0"/>
          </a:p>
        </p:txBody>
      </p:sp>
      <p:sp>
        <p:nvSpPr>
          <p:cNvPr id="25" name="Shape 18"/>
          <p:cNvSpPr/>
          <p:nvPr/>
        </p:nvSpPr>
        <p:spPr>
          <a:xfrm>
            <a:off x="5940862" y="5835967"/>
            <a:ext cx="8235077" cy="862846"/>
          </a:xfrm>
          <a:prstGeom prst="roundRect">
            <a:avLst>
              <a:gd name="adj" fmla="val 8478"/>
            </a:avLst>
          </a:prstGeom>
          <a:solidFill>
            <a:srgbClr val="FFFFFF">
              <a:alpha val="95000"/>
            </a:srgbClr>
          </a:solidFill>
          <a:ln/>
        </p:spPr>
      </p:sp>
      <p:sp>
        <p:nvSpPr>
          <p:cNvPr id="26" name="Shape 19"/>
          <p:cNvSpPr/>
          <p:nvPr/>
        </p:nvSpPr>
        <p:spPr>
          <a:xfrm>
            <a:off x="5940862" y="5820728"/>
            <a:ext cx="8235077" cy="60960"/>
          </a:xfrm>
          <a:prstGeom prst="roundRect">
            <a:avLst>
              <a:gd name="adj" fmla="val 89464"/>
            </a:avLst>
          </a:prstGeom>
          <a:solidFill>
            <a:srgbClr val="BE49DF"/>
          </a:solidFill>
          <a:ln/>
        </p:spPr>
      </p:sp>
      <p:sp>
        <p:nvSpPr>
          <p:cNvPr id="27" name="Shape 20"/>
          <p:cNvSpPr/>
          <p:nvPr/>
        </p:nvSpPr>
        <p:spPr>
          <a:xfrm>
            <a:off x="9863673" y="5641300"/>
            <a:ext cx="389453" cy="389453"/>
          </a:xfrm>
          <a:prstGeom prst="roundRect">
            <a:avLst>
              <a:gd name="adj" fmla="val 234791"/>
            </a:avLst>
          </a:prstGeom>
          <a:solidFill>
            <a:srgbClr val="BE49DF"/>
          </a:solidFill>
          <a:ln/>
        </p:spPr>
      </p:sp>
      <p:pic>
        <p:nvPicPr>
          <p:cNvPr id="28" name="Image 5"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980474" y="5758101"/>
            <a:ext cx="155734" cy="155734"/>
          </a:xfrm>
          <a:prstGeom prst="rect">
            <a:avLst/>
          </a:prstGeom>
        </p:spPr>
      </p:pic>
      <p:sp>
        <p:nvSpPr>
          <p:cNvPr id="29" name="Text 21"/>
          <p:cNvSpPr/>
          <p:nvPr/>
        </p:nvSpPr>
        <p:spPr>
          <a:xfrm>
            <a:off x="6085880" y="6160532"/>
            <a:ext cx="1527572" cy="190857"/>
          </a:xfrm>
          <a:prstGeom prst="rect">
            <a:avLst/>
          </a:prstGeom>
          <a:noFill/>
          <a:ln/>
        </p:spPr>
        <p:txBody>
          <a:bodyPr wrap="none" lIns="0" tIns="0" rIns="0" bIns="0" rtlCol="0" anchor="t"/>
          <a:lstStyle/>
          <a:p>
            <a:pPr algn="l" indent="0" marL="0">
              <a:lnSpc>
                <a:spcPts val="1500"/>
              </a:lnSpc>
              <a:buNone/>
            </a:pPr>
            <a:r>
              <a:rPr lang="en-US" sz="1200" dirty="0">
                <a:solidFill>
                  <a:srgbClr val="272525"/>
                </a:solidFill>
                <a:latin typeface="Source Serif 4 Semi Bold" pitchFamily="34" charset="0"/>
                <a:ea typeface="Source Serif 4 Semi Bold" pitchFamily="34" charset="-122"/>
                <a:cs typeface="Source Serif 4 Semi Bold" pitchFamily="34" charset="-120"/>
              </a:rPr>
              <a:t>Strong Incentive</a:t>
            </a:r>
            <a:endParaRPr lang="en-US" sz="1200" dirty="0"/>
          </a:p>
        </p:txBody>
      </p:sp>
      <p:sp>
        <p:nvSpPr>
          <p:cNvPr id="30" name="Text 22"/>
          <p:cNvSpPr/>
          <p:nvPr/>
        </p:nvSpPr>
        <p:spPr>
          <a:xfrm>
            <a:off x="6085880" y="6393537"/>
            <a:ext cx="7945041" cy="160258"/>
          </a:xfrm>
          <a:prstGeom prst="rect">
            <a:avLst/>
          </a:prstGeom>
          <a:noFill/>
          <a:ln/>
        </p:spPr>
        <p:txBody>
          <a:bodyPr wrap="none" lIns="0" tIns="0" rIns="0" bIns="0" rtlCol="0" anchor="t"/>
          <a:lstStyle/>
          <a:p>
            <a:pPr algn="l" indent="0" marL="0">
              <a:lnSpc>
                <a:spcPts val="1250"/>
              </a:lnSpc>
              <a:buNone/>
            </a:pPr>
            <a:r>
              <a:rPr lang="en-US" sz="1000" dirty="0">
                <a:solidFill>
                  <a:srgbClr val="272525"/>
                </a:solidFill>
                <a:latin typeface="Source Sans 3" pitchFamily="34" charset="0"/>
                <a:ea typeface="Source Sans 3" pitchFamily="34" charset="-122"/>
                <a:cs typeface="Source Sans 3" pitchFamily="34" charset="-120"/>
              </a:rPr>
              <a:t>This system provides a direct and tangible link between sustained academic effort and valuable real-world benefits, enhancing motivation.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Shape 0"/>
          <p:cNvSpPr/>
          <p:nvPr/>
        </p:nvSpPr>
        <p:spPr>
          <a:xfrm>
            <a:off x="0" y="0"/>
            <a:ext cx="5486400" cy="8229600"/>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sp>
        <p:nvSpPr>
          <p:cNvPr id="5" name="Text 1"/>
          <p:cNvSpPr/>
          <p:nvPr/>
        </p:nvSpPr>
        <p:spPr>
          <a:xfrm>
            <a:off x="6057186" y="2140267"/>
            <a:ext cx="6995993" cy="479584"/>
          </a:xfrm>
          <a:prstGeom prst="rect">
            <a:avLst/>
          </a:prstGeom>
          <a:noFill/>
          <a:ln/>
        </p:spPr>
        <p:txBody>
          <a:bodyPr wrap="none" lIns="0" tIns="0" rIns="0" bIns="0" rtlCol="0" anchor="t"/>
          <a:lstStyle/>
          <a:p>
            <a:pPr algn="l" indent="0" marL="0">
              <a:lnSpc>
                <a:spcPts val="3750"/>
              </a:lnSpc>
              <a:buNone/>
            </a:pPr>
            <a:r>
              <a:rPr lang="en-US" sz="3000" dirty="0">
                <a:solidFill>
                  <a:srgbClr val="000000"/>
                </a:solidFill>
                <a:latin typeface="Source Serif 4 Semi Bold" pitchFamily="34" charset="0"/>
                <a:ea typeface="Source Serif 4 Semi Bold" pitchFamily="34" charset="-122"/>
                <a:cs typeface="Source Serif 4 Semi Bold" pitchFamily="34" charset="-120"/>
              </a:rPr>
              <a:t>Stay Updated: Real-Time Notifications</a:t>
            </a:r>
            <a:endParaRPr lang="en-US" sz="3000" dirty="0"/>
          </a:p>
        </p:txBody>
      </p:sp>
      <p:sp>
        <p:nvSpPr>
          <p:cNvPr id="6" name="Text 2"/>
          <p:cNvSpPr/>
          <p:nvPr/>
        </p:nvSpPr>
        <p:spPr>
          <a:xfrm>
            <a:off x="6057186" y="2786539"/>
            <a:ext cx="8002429" cy="219313"/>
          </a:xfrm>
          <a:prstGeom prst="rect">
            <a:avLst/>
          </a:prstGeom>
          <a:noFill/>
          <a:ln/>
        </p:spPr>
        <p:txBody>
          <a:bodyPr wrap="none" lIns="0" tIns="0" rIns="0" bIns="0" rtlCol="0" anchor="t"/>
          <a:lstStyle/>
          <a:p>
            <a:pPr algn="l" indent="0" marL="0">
              <a:lnSpc>
                <a:spcPts val="1700"/>
              </a:lnSpc>
              <a:buNone/>
            </a:pPr>
            <a:r>
              <a:rPr lang="en-US" sz="1250" dirty="0">
                <a:solidFill>
                  <a:srgbClr val="272525"/>
                </a:solidFill>
                <a:latin typeface="Source Sans 3" pitchFamily="34" charset="0"/>
                <a:ea typeface="Source Sans 3" pitchFamily="34" charset="-122"/>
                <a:cs typeface="Source Sans 3" pitchFamily="34" charset="-120"/>
              </a:rPr>
              <a:t>Uniflow keeps users informed and engaged with instant, smart alerts for all critical platform activities.</a:t>
            </a:r>
            <a:endParaRPr lang="en-US" sz="1250" dirty="0"/>
          </a:p>
        </p:txBody>
      </p:sp>
      <p:sp>
        <p:nvSpPr>
          <p:cNvPr id="7" name="Text 3"/>
          <p:cNvSpPr/>
          <p:nvPr/>
        </p:nvSpPr>
        <p:spPr>
          <a:xfrm>
            <a:off x="6057186" y="3241953"/>
            <a:ext cx="2302669" cy="287774"/>
          </a:xfrm>
          <a:prstGeom prst="rect">
            <a:avLst/>
          </a:prstGeom>
          <a:noFill/>
          <a:ln/>
        </p:spPr>
        <p:txBody>
          <a:bodyPr wrap="none" lIns="0" tIns="0" rIns="0" bIns="0" rtlCol="0" anchor="t"/>
          <a:lstStyle/>
          <a:p>
            <a:pPr algn="l" indent="0" marL="0">
              <a:lnSpc>
                <a:spcPts val="2250"/>
              </a:lnSpc>
              <a:buNone/>
            </a:pPr>
            <a:r>
              <a:rPr lang="en-US" sz="1800" dirty="0">
                <a:solidFill>
                  <a:srgbClr val="000000"/>
                </a:solidFill>
                <a:latin typeface="Source Serif 4 Semi Bold" pitchFamily="34" charset="0"/>
                <a:ea typeface="Source Serif 4 Semi Bold" pitchFamily="34" charset="-122"/>
                <a:cs typeface="Source Serif 4 Semi Bold" pitchFamily="34" charset="-120"/>
              </a:rPr>
              <a:t>Instant Alerts</a:t>
            </a:r>
            <a:endParaRPr lang="en-US" sz="1800" dirty="0"/>
          </a:p>
        </p:txBody>
      </p:sp>
      <p:sp>
        <p:nvSpPr>
          <p:cNvPr id="8" name="Text 4"/>
          <p:cNvSpPr/>
          <p:nvPr/>
        </p:nvSpPr>
        <p:spPr>
          <a:xfrm>
            <a:off x="6057186" y="3640812"/>
            <a:ext cx="3802261" cy="438626"/>
          </a:xfrm>
          <a:prstGeom prst="rect">
            <a:avLst/>
          </a:prstGeom>
          <a:noFill/>
          <a:ln/>
        </p:spPr>
        <p:txBody>
          <a:bodyPr wrap="square" lIns="0" tIns="0" rIns="0" bIns="0" rtlCol="0" anchor="t"/>
          <a:lstStyle/>
          <a:p>
            <a:pPr algn="l" indent="0" marL="0">
              <a:lnSpc>
                <a:spcPts val="1700"/>
              </a:lnSpc>
              <a:buNone/>
            </a:pPr>
            <a:r>
              <a:rPr lang="en-US" sz="1250" dirty="0">
                <a:solidFill>
                  <a:srgbClr val="272525"/>
                </a:solidFill>
                <a:latin typeface="Source Sans 3" pitchFamily="34" charset="0"/>
                <a:ea typeface="Source Sans 3" pitchFamily="34" charset="-122"/>
                <a:cs typeface="Source Sans 3" pitchFamily="34" charset="-120"/>
              </a:rPr>
              <a:t>Receive immediate notifications for key events, ensuring you never miss an important update.</a:t>
            </a:r>
            <a:endParaRPr lang="en-US" sz="1250" dirty="0"/>
          </a:p>
        </p:txBody>
      </p:sp>
      <p:sp>
        <p:nvSpPr>
          <p:cNvPr id="9" name="Text 5"/>
          <p:cNvSpPr/>
          <p:nvPr/>
        </p:nvSpPr>
        <p:spPr>
          <a:xfrm>
            <a:off x="6057186" y="4179451"/>
            <a:ext cx="3802261" cy="1755221"/>
          </a:xfrm>
          <a:prstGeom prst="rect">
            <a:avLst/>
          </a:prstGeom>
          <a:noFill/>
          <a:ln/>
        </p:spPr>
        <p:txBody>
          <a:bodyPr wrap="square" lIns="0" tIns="0" rIns="0" bIns="0" rtlCol="0" anchor="t"/>
          <a:lstStyle/>
          <a:p>
            <a:pPr algn="l" marL="342900" indent="-342900">
              <a:lnSpc>
                <a:spcPts val="1700"/>
              </a:lnSpc>
              <a:buSzPct val="100000"/>
              <a:buChar char="•"/>
            </a:pPr>
            <a:r>
              <a:rPr lang="en-US" sz="1250" b="1" dirty="0">
                <a:solidFill>
                  <a:srgbClr val="272525"/>
                </a:solidFill>
                <a:latin typeface="Source Sans 3" pitchFamily="34" charset="0"/>
                <a:ea typeface="Source Sans 3" pitchFamily="34" charset="-122"/>
                <a:cs typeface="Source Sans 3" pitchFamily="34" charset="-120"/>
              </a:rPr>
              <a:t>New Course Announcements:</a:t>
            </a:r>
            <a:pPr algn="l" indent="0" marL="0">
              <a:lnSpc>
                <a:spcPts val="1700"/>
              </a:lnSpc>
              <a:buNone/>
            </a:pPr>
            <a:r>
              <a:rPr lang="en-US" sz="1250" dirty="0">
                <a:solidFill>
                  <a:srgbClr val="272525"/>
                </a:solidFill>
                <a:latin typeface="Source Sans 3" pitchFamily="34" charset="0"/>
                <a:ea typeface="Source Sans 3" pitchFamily="34" charset="-122"/>
                <a:cs typeface="Source Sans 3" pitchFamily="34" charset="-120"/>
              </a:rPr>
              <a:t> Be the first to know about crucial information from your teachers.</a:t>
            </a:r>
            <a:endParaRPr lang="en-US" sz="1250" dirty="0"/>
          </a:p>
          <a:p>
            <a:pPr algn="l" marL="342900" indent="-342900">
              <a:lnSpc>
                <a:spcPts val="1700"/>
              </a:lnSpc>
              <a:buSzPct val="100000"/>
              <a:buChar char="•"/>
            </a:pPr>
            <a:r>
              <a:rPr lang="en-US" sz="1250" b="1" dirty="0">
                <a:solidFill>
                  <a:srgbClr val="272525"/>
                </a:solidFill>
                <a:latin typeface="Source Sans 3" pitchFamily="34" charset="0"/>
                <a:ea typeface="Source Sans 3" pitchFamily="34" charset="-122"/>
                <a:cs typeface="Source Sans 3" pitchFamily="34" charset="-120"/>
              </a:rPr>
              <a:t>Note Approvals:</a:t>
            </a:r>
            <a:pPr algn="l" indent="0" marL="0">
              <a:lnSpc>
                <a:spcPts val="1700"/>
              </a:lnSpc>
              <a:buNone/>
            </a:pPr>
            <a:r>
              <a:rPr lang="en-US" sz="1250" dirty="0">
                <a:solidFill>
                  <a:srgbClr val="272525"/>
                </a:solidFill>
                <a:latin typeface="Source Sans 3" pitchFamily="34" charset="0"/>
                <a:ea typeface="Source Sans 3" pitchFamily="34" charset="-122"/>
                <a:cs typeface="Source Sans 3" pitchFamily="34" charset="-120"/>
              </a:rPr>
              <a:t> Get instant feedback when your submitted notes are verified.</a:t>
            </a:r>
            <a:endParaRPr lang="en-US" sz="1250" dirty="0"/>
          </a:p>
          <a:p>
            <a:pPr algn="l" marL="342900" indent="-342900">
              <a:lnSpc>
                <a:spcPts val="1700"/>
              </a:lnSpc>
              <a:buSzPct val="100000"/>
              <a:buChar char="•"/>
            </a:pPr>
            <a:r>
              <a:rPr lang="en-US" sz="1250" b="1" dirty="0">
                <a:solidFill>
                  <a:srgbClr val="272525"/>
                </a:solidFill>
                <a:latin typeface="Source Sans 3" pitchFamily="34" charset="0"/>
                <a:ea typeface="Source Sans 3" pitchFamily="34" charset="-122"/>
                <a:cs typeface="Source Sans 3" pitchFamily="34" charset="-120"/>
              </a:rPr>
              <a:t>Voucher Awards:</a:t>
            </a:r>
            <a:pPr algn="l" indent="0" marL="0">
              <a:lnSpc>
                <a:spcPts val="1700"/>
              </a:lnSpc>
              <a:buNone/>
            </a:pPr>
            <a:r>
              <a:rPr lang="en-US" sz="1250" dirty="0">
                <a:solidFill>
                  <a:srgbClr val="272525"/>
                </a:solidFill>
                <a:latin typeface="Source Sans 3" pitchFamily="34" charset="0"/>
                <a:ea typeface="Source Sans 3" pitchFamily="34" charset="-122"/>
                <a:cs typeface="Source Sans 3" pitchFamily="34" charset="-120"/>
              </a:rPr>
              <a:t> Be alerted as soon as you unlock exciting new rewards.</a:t>
            </a:r>
            <a:endParaRPr lang="en-US" sz="1250" dirty="0"/>
          </a:p>
          <a:p>
            <a:pPr algn="l" marL="342900" indent="-342900">
              <a:lnSpc>
                <a:spcPts val="1700"/>
              </a:lnSpc>
              <a:buSzPct val="100000"/>
              <a:buChar char="•"/>
            </a:pPr>
            <a:r>
              <a:rPr lang="en-US" sz="1250" b="1" dirty="0">
                <a:solidFill>
                  <a:srgbClr val="272525"/>
                </a:solidFill>
                <a:latin typeface="Source Sans 3" pitchFamily="34" charset="0"/>
                <a:ea typeface="Source Sans 3" pitchFamily="34" charset="-122"/>
                <a:cs typeface="Source Sans 3" pitchFamily="34" charset="-120"/>
              </a:rPr>
              <a:t>Material Uploads:</a:t>
            </a:r>
            <a:pPr algn="l" indent="0" marL="0">
              <a:lnSpc>
                <a:spcPts val="1700"/>
              </a:lnSpc>
              <a:buNone/>
            </a:pPr>
            <a:r>
              <a:rPr lang="en-US" sz="1250" dirty="0">
                <a:solidFill>
                  <a:srgbClr val="272525"/>
                </a:solidFill>
                <a:latin typeface="Source Sans 3" pitchFamily="34" charset="0"/>
                <a:ea typeface="Source Sans 3" pitchFamily="34" charset="-122"/>
                <a:cs typeface="Source Sans 3" pitchFamily="34" charset="-120"/>
              </a:rPr>
              <a:t> Stay informed about newly available learning resources.</a:t>
            </a:r>
            <a:endParaRPr lang="en-US" sz="1250" dirty="0"/>
          </a:p>
        </p:txBody>
      </p:sp>
      <p:sp>
        <p:nvSpPr>
          <p:cNvPr id="10" name="Text 6"/>
          <p:cNvSpPr/>
          <p:nvPr/>
        </p:nvSpPr>
        <p:spPr>
          <a:xfrm>
            <a:off x="10264973" y="3241953"/>
            <a:ext cx="3240286" cy="287774"/>
          </a:xfrm>
          <a:prstGeom prst="rect">
            <a:avLst/>
          </a:prstGeom>
          <a:noFill/>
          <a:ln/>
        </p:spPr>
        <p:txBody>
          <a:bodyPr wrap="none" lIns="0" tIns="0" rIns="0" bIns="0" rtlCol="0" anchor="t"/>
          <a:lstStyle/>
          <a:p>
            <a:pPr algn="l" indent="0" marL="0">
              <a:lnSpc>
                <a:spcPts val="2250"/>
              </a:lnSpc>
              <a:buNone/>
            </a:pPr>
            <a:r>
              <a:rPr lang="en-US" sz="1800" dirty="0">
                <a:solidFill>
                  <a:srgbClr val="000000"/>
                </a:solidFill>
                <a:latin typeface="Source Serif 4 Semi Bold" pitchFamily="34" charset="0"/>
                <a:ea typeface="Source Serif 4 Semi Bold" pitchFamily="34" charset="-122"/>
                <a:cs typeface="Source Serif 4 Semi Bold" pitchFamily="34" charset="-120"/>
              </a:rPr>
              <a:t>Centralized Notification Feed</a:t>
            </a:r>
            <a:endParaRPr lang="en-US" sz="1800" dirty="0"/>
          </a:p>
        </p:txBody>
      </p:sp>
      <p:sp>
        <p:nvSpPr>
          <p:cNvPr id="11" name="Text 7"/>
          <p:cNvSpPr/>
          <p:nvPr/>
        </p:nvSpPr>
        <p:spPr>
          <a:xfrm>
            <a:off x="10264973" y="3640812"/>
            <a:ext cx="3802261" cy="657939"/>
          </a:xfrm>
          <a:prstGeom prst="rect">
            <a:avLst/>
          </a:prstGeom>
          <a:noFill/>
          <a:ln/>
        </p:spPr>
        <p:txBody>
          <a:bodyPr wrap="square" lIns="0" tIns="0" rIns="0" bIns="0" rtlCol="0" anchor="t"/>
          <a:lstStyle/>
          <a:p>
            <a:pPr algn="l" indent="0" marL="0">
              <a:lnSpc>
                <a:spcPts val="1700"/>
              </a:lnSpc>
              <a:buNone/>
            </a:pPr>
            <a:r>
              <a:rPr lang="en-US" sz="1250" dirty="0">
                <a:solidFill>
                  <a:srgbClr val="272525"/>
                </a:solidFill>
                <a:latin typeface="Source Sans 3" pitchFamily="34" charset="0"/>
                <a:ea typeface="Source Sans 3" pitchFamily="34" charset="-122"/>
                <a:cs typeface="Source Sans 3" pitchFamily="34" charset="-120"/>
              </a:rPr>
              <a:t>A dedicated hub stores all past alerts, allowing you to easily review and catch up on any missed notifications at your convenience.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Shape 0"/>
          <p:cNvSpPr/>
          <p:nvPr/>
        </p:nvSpPr>
        <p:spPr>
          <a:xfrm>
            <a:off x="9144000" y="0"/>
            <a:ext cx="5486400" cy="8229600"/>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9144000" y="0"/>
            <a:ext cx="5486400" cy="8229600"/>
          </a:xfrm>
          <a:prstGeom prst="rect">
            <a:avLst/>
          </a:prstGeom>
        </p:spPr>
      </p:pic>
      <p:sp>
        <p:nvSpPr>
          <p:cNvPr id="5" name="Text 1"/>
          <p:cNvSpPr/>
          <p:nvPr/>
        </p:nvSpPr>
        <p:spPr>
          <a:xfrm>
            <a:off x="524470" y="1633776"/>
            <a:ext cx="6665595" cy="440769"/>
          </a:xfrm>
          <a:prstGeom prst="rect">
            <a:avLst/>
          </a:prstGeom>
          <a:noFill/>
          <a:ln/>
        </p:spPr>
        <p:txBody>
          <a:bodyPr wrap="none" lIns="0" tIns="0" rIns="0" bIns="0" rtlCol="0" anchor="t"/>
          <a:lstStyle/>
          <a:p>
            <a:pPr algn="l" indent="0" marL="0">
              <a:lnSpc>
                <a:spcPts val="3450"/>
              </a:lnSpc>
              <a:buNone/>
            </a:pPr>
            <a:r>
              <a:rPr lang="en-US" sz="2750" dirty="0">
                <a:solidFill>
                  <a:srgbClr val="000000"/>
                </a:solidFill>
                <a:latin typeface="Source Serif 4 Semi Bold" pitchFamily="34" charset="0"/>
                <a:ea typeface="Source Serif 4 Semi Bold" pitchFamily="34" charset="-122"/>
                <a:cs typeface="Source Serif 4 Semi Bold" pitchFamily="34" charset="-120"/>
              </a:rPr>
              <a:t>Platform Administration &amp; Governance</a:t>
            </a:r>
            <a:endParaRPr lang="en-US" sz="2750" dirty="0"/>
          </a:p>
        </p:txBody>
      </p:sp>
      <p:sp>
        <p:nvSpPr>
          <p:cNvPr id="6" name="Text 2"/>
          <p:cNvSpPr/>
          <p:nvPr/>
        </p:nvSpPr>
        <p:spPr>
          <a:xfrm>
            <a:off x="524470" y="2215277"/>
            <a:ext cx="8095059" cy="389811"/>
          </a:xfrm>
          <a:prstGeom prst="rect">
            <a:avLst/>
          </a:prstGeom>
          <a:noFill/>
          <a:ln/>
        </p:spPr>
        <p:txBody>
          <a:bodyPr wrap="square" lIns="0" tIns="0" rIns="0" bIns="0" rtlCol="0" anchor="t"/>
          <a:lstStyle/>
          <a:p>
            <a:pPr algn="l" indent="0" marL="0">
              <a:lnSpc>
                <a:spcPts val="1500"/>
              </a:lnSpc>
              <a:buNone/>
            </a:pPr>
            <a:r>
              <a:rPr lang="en-US" sz="1150" dirty="0">
                <a:solidFill>
                  <a:srgbClr val="272525"/>
                </a:solidFill>
                <a:latin typeface="Source Sans 3" pitchFamily="34" charset="0"/>
                <a:ea typeface="Source Sans 3" pitchFamily="34" charset="-122"/>
                <a:cs typeface="Source Sans 3" pitchFamily="34" charset="-120"/>
              </a:rPr>
              <a:t>The Admin dashboard provides powerful tools for platform managers to ensure a smooth, secure, and effective learning environment.</a:t>
            </a:r>
            <a:endParaRPr lang="en-US" sz="1150" dirty="0"/>
          </a:p>
        </p:txBody>
      </p:sp>
      <p:sp>
        <p:nvSpPr>
          <p:cNvPr id="7" name="Shape 3"/>
          <p:cNvSpPr/>
          <p:nvPr/>
        </p:nvSpPr>
        <p:spPr>
          <a:xfrm>
            <a:off x="524470" y="2710577"/>
            <a:ext cx="8095059" cy="3099435"/>
          </a:xfrm>
          <a:prstGeom prst="roundRect">
            <a:avLst>
              <a:gd name="adj" fmla="val 2031"/>
            </a:avLst>
          </a:prstGeom>
          <a:solidFill>
            <a:srgbClr val="F0D4F7"/>
          </a:solidFill>
          <a:ln w="7620">
            <a:solidFill>
              <a:srgbClr val="D6BADD"/>
            </a:solidFill>
            <a:prstDash val="solid"/>
          </a:ln>
        </p:spPr>
      </p:sp>
      <p:sp>
        <p:nvSpPr>
          <p:cNvPr id="8" name="Shape 4"/>
          <p:cNvSpPr/>
          <p:nvPr/>
        </p:nvSpPr>
        <p:spPr>
          <a:xfrm>
            <a:off x="532090" y="2718197"/>
            <a:ext cx="8079819" cy="771049"/>
          </a:xfrm>
          <a:prstGeom prst="roundRect">
            <a:avLst>
              <a:gd name="adj" fmla="val 8164"/>
            </a:avLst>
          </a:prstGeom>
          <a:solidFill>
            <a:srgbClr val="F0D4F7"/>
          </a:solidFill>
          <a:ln/>
        </p:spPr>
      </p:sp>
      <p:sp>
        <p:nvSpPr>
          <p:cNvPr id="9" name="Text 5"/>
          <p:cNvSpPr/>
          <p:nvPr/>
        </p:nvSpPr>
        <p:spPr>
          <a:xfrm>
            <a:off x="681871" y="2867978"/>
            <a:ext cx="1763197" cy="220385"/>
          </a:xfrm>
          <a:prstGeom prst="rect">
            <a:avLst/>
          </a:prstGeom>
          <a:noFill/>
          <a:ln/>
        </p:spPr>
        <p:txBody>
          <a:bodyPr wrap="none" lIns="0" tIns="0" rIns="0" bIns="0" rtlCol="0" anchor="t"/>
          <a:lstStyle/>
          <a:p>
            <a:pPr algn="l" indent="0" marL="0">
              <a:lnSpc>
                <a:spcPts val="1700"/>
              </a:lnSpc>
              <a:buNone/>
            </a:pPr>
            <a:r>
              <a:rPr lang="en-US" sz="1350" dirty="0">
                <a:solidFill>
                  <a:srgbClr val="272525"/>
                </a:solidFill>
                <a:latin typeface="Source Serif 4 Semi Bold" pitchFamily="34" charset="0"/>
                <a:ea typeface="Source Serif 4 Semi Bold" pitchFamily="34" charset="-122"/>
                <a:cs typeface="Source Serif 4 Semi Bold" pitchFamily="34" charset="-120"/>
              </a:rPr>
              <a:t>User Management</a:t>
            </a:r>
            <a:endParaRPr lang="en-US" sz="1350" dirty="0"/>
          </a:p>
        </p:txBody>
      </p:sp>
      <p:sp>
        <p:nvSpPr>
          <p:cNvPr id="10" name="Text 6"/>
          <p:cNvSpPr/>
          <p:nvPr/>
        </p:nvSpPr>
        <p:spPr>
          <a:xfrm>
            <a:off x="681871" y="3144560"/>
            <a:ext cx="7780258" cy="194905"/>
          </a:xfrm>
          <a:prstGeom prst="rect">
            <a:avLst/>
          </a:prstGeom>
          <a:noFill/>
          <a:ln/>
        </p:spPr>
        <p:txBody>
          <a:bodyPr wrap="none" lIns="0" tIns="0" rIns="0" bIns="0" rtlCol="0" anchor="t"/>
          <a:lstStyle/>
          <a:p>
            <a:pPr algn="l" indent="0" marL="0">
              <a:lnSpc>
                <a:spcPts val="1500"/>
              </a:lnSpc>
              <a:buNone/>
            </a:pPr>
            <a:r>
              <a:rPr lang="en-US" sz="1150" dirty="0">
                <a:solidFill>
                  <a:srgbClr val="272525"/>
                </a:solidFill>
                <a:latin typeface="Source Sans 3" pitchFamily="34" charset="0"/>
                <a:ea typeface="Source Sans 3" pitchFamily="34" charset="-122"/>
                <a:cs typeface="Source Sans 3" pitchFamily="34" charset="-120"/>
              </a:rPr>
              <a:t>Comprehensive tools to view, search, and manage all registered user accounts on the platform.</a:t>
            </a:r>
            <a:endParaRPr lang="en-US" sz="1150" dirty="0"/>
          </a:p>
        </p:txBody>
      </p:sp>
      <p:sp>
        <p:nvSpPr>
          <p:cNvPr id="11" name="Shape 7"/>
          <p:cNvSpPr/>
          <p:nvPr/>
        </p:nvSpPr>
        <p:spPr>
          <a:xfrm>
            <a:off x="532090" y="3489246"/>
            <a:ext cx="8079819" cy="771049"/>
          </a:xfrm>
          <a:prstGeom prst="rect">
            <a:avLst/>
          </a:prstGeom>
          <a:solidFill>
            <a:srgbClr val="F0D4F7"/>
          </a:solidFill>
          <a:ln/>
        </p:spPr>
      </p:sp>
      <p:sp>
        <p:nvSpPr>
          <p:cNvPr id="12" name="Shape 8"/>
          <p:cNvSpPr/>
          <p:nvPr/>
        </p:nvSpPr>
        <p:spPr>
          <a:xfrm>
            <a:off x="532090" y="3489246"/>
            <a:ext cx="8079819" cy="15240"/>
          </a:xfrm>
          <a:prstGeom prst="roundRect">
            <a:avLst>
              <a:gd name="adj" fmla="val 413036"/>
            </a:avLst>
          </a:prstGeom>
          <a:solidFill>
            <a:srgbClr val="D6BADD"/>
          </a:solidFill>
          <a:ln/>
        </p:spPr>
      </p:sp>
      <p:sp>
        <p:nvSpPr>
          <p:cNvPr id="13" name="Text 9"/>
          <p:cNvSpPr/>
          <p:nvPr/>
        </p:nvSpPr>
        <p:spPr>
          <a:xfrm>
            <a:off x="681871" y="3639026"/>
            <a:ext cx="2004774" cy="220385"/>
          </a:xfrm>
          <a:prstGeom prst="rect">
            <a:avLst/>
          </a:prstGeom>
          <a:noFill/>
          <a:ln/>
        </p:spPr>
        <p:txBody>
          <a:bodyPr wrap="none" lIns="0" tIns="0" rIns="0" bIns="0" rtlCol="0" anchor="t"/>
          <a:lstStyle/>
          <a:p>
            <a:pPr algn="l" indent="0" marL="0">
              <a:lnSpc>
                <a:spcPts val="1700"/>
              </a:lnSpc>
              <a:buNone/>
            </a:pPr>
            <a:r>
              <a:rPr lang="en-US" sz="1350" dirty="0">
                <a:solidFill>
                  <a:srgbClr val="272525"/>
                </a:solidFill>
                <a:latin typeface="Source Serif 4 Semi Bold" pitchFamily="34" charset="0"/>
                <a:ea typeface="Source Serif 4 Semi Bold" pitchFamily="34" charset="-122"/>
                <a:cs typeface="Source Serif 4 Semi Bold" pitchFamily="34" charset="-120"/>
              </a:rPr>
              <a:t>Role Request Approvals</a:t>
            </a:r>
            <a:endParaRPr lang="en-US" sz="1350" dirty="0"/>
          </a:p>
        </p:txBody>
      </p:sp>
      <p:sp>
        <p:nvSpPr>
          <p:cNvPr id="14" name="Text 10"/>
          <p:cNvSpPr/>
          <p:nvPr/>
        </p:nvSpPr>
        <p:spPr>
          <a:xfrm>
            <a:off x="681871" y="3915608"/>
            <a:ext cx="7780258" cy="194905"/>
          </a:xfrm>
          <a:prstGeom prst="rect">
            <a:avLst/>
          </a:prstGeom>
          <a:noFill/>
          <a:ln/>
        </p:spPr>
        <p:txBody>
          <a:bodyPr wrap="none" lIns="0" tIns="0" rIns="0" bIns="0" rtlCol="0" anchor="t"/>
          <a:lstStyle/>
          <a:p>
            <a:pPr algn="l" indent="0" marL="0">
              <a:lnSpc>
                <a:spcPts val="1500"/>
              </a:lnSpc>
              <a:buNone/>
            </a:pPr>
            <a:r>
              <a:rPr lang="en-US" sz="1150" dirty="0">
                <a:solidFill>
                  <a:srgbClr val="272525"/>
                </a:solidFill>
                <a:latin typeface="Source Sans 3" pitchFamily="34" charset="0"/>
                <a:ea typeface="Source Sans 3" pitchFamily="34" charset="-122"/>
                <a:cs typeface="Source Sans 3" pitchFamily="34" charset="-120"/>
              </a:rPr>
              <a:t>Streamlined process for approving or rejecting requests for teacher permissions, maintaining role integrity.</a:t>
            </a:r>
            <a:endParaRPr lang="en-US" sz="1150" dirty="0"/>
          </a:p>
        </p:txBody>
      </p:sp>
      <p:sp>
        <p:nvSpPr>
          <p:cNvPr id="15" name="Shape 11"/>
          <p:cNvSpPr/>
          <p:nvPr/>
        </p:nvSpPr>
        <p:spPr>
          <a:xfrm>
            <a:off x="532090" y="4260294"/>
            <a:ext cx="8079819" cy="771049"/>
          </a:xfrm>
          <a:prstGeom prst="rect">
            <a:avLst/>
          </a:prstGeom>
          <a:solidFill>
            <a:srgbClr val="F0D4F7"/>
          </a:solidFill>
          <a:ln/>
        </p:spPr>
      </p:sp>
      <p:sp>
        <p:nvSpPr>
          <p:cNvPr id="16" name="Shape 12"/>
          <p:cNvSpPr/>
          <p:nvPr/>
        </p:nvSpPr>
        <p:spPr>
          <a:xfrm>
            <a:off x="532090" y="4260294"/>
            <a:ext cx="8079819" cy="15240"/>
          </a:xfrm>
          <a:prstGeom prst="roundRect">
            <a:avLst>
              <a:gd name="adj" fmla="val 413036"/>
            </a:avLst>
          </a:prstGeom>
          <a:solidFill>
            <a:srgbClr val="D6BADD"/>
          </a:solidFill>
          <a:ln/>
        </p:spPr>
      </p:sp>
      <p:sp>
        <p:nvSpPr>
          <p:cNvPr id="17" name="Text 13"/>
          <p:cNvSpPr/>
          <p:nvPr/>
        </p:nvSpPr>
        <p:spPr>
          <a:xfrm>
            <a:off x="681871" y="4410075"/>
            <a:ext cx="1763197" cy="220385"/>
          </a:xfrm>
          <a:prstGeom prst="rect">
            <a:avLst/>
          </a:prstGeom>
          <a:noFill/>
          <a:ln/>
        </p:spPr>
        <p:txBody>
          <a:bodyPr wrap="none" lIns="0" tIns="0" rIns="0" bIns="0" rtlCol="0" anchor="t"/>
          <a:lstStyle/>
          <a:p>
            <a:pPr algn="l" indent="0" marL="0">
              <a:lnSpc>
                <a:spcPts val="1700"/>
              </a:lnSpc>
              <a:buNone/>
            </a:pPr>
            <a:r>
              <a:rPr lang="en-US" sz="1350" dirty="0">
                <a:solidFill>
                  <a:srgbClr val="272525"/>
                </a:solidFill>
                <a:latin typeface="Source Serif 4 Semi Bold" pitchFamily="34" charset="0"/>
                <a:ea typeface="Source Serif 4 Semi Bold" pitchFamily="34" charset="-122"/>
                <a:cs typeface="Source Serif 4 Semi Bold" pitchFamily="34" charset="-120"/>
              </a:rPr>
              <a:t>Content Moderation</a:t>
            </a:r>
            <a:endParaRPr lang="en-US" sz="1350" dirty="0"/>
          </a:p>
        </p:txBody>
      </p:sp>
      <p:sp>
        <p:nvSpPr>
          <p:cNvPr id="18" name="Text 14"/>
          <p:cNvSpPr/>
          <p:nvPr/>
        </p:nvSpPr>
        <p:spPr>
          <a:xfrm>
            <a:off x="681871" y="4686657"/>
            <a:ext cx="7780258" cy="194905"/>
          </a:xfrm>
          <a:prstGeom prst="rect">
            <a:avLst/>
          </a:prstGeom>
          <a:noFill/>
          <a:ln/>
        </p:spPr>
        <p:txBody>
          <a:bodyPr wrap="none" lIns="0" tIns="0" rIns="0" bIns="0" rtlCol="0" anchor="t"/>
          <a:lstStyle/>
          <a:p>
            <a:pPr algn="l" indent="0" marL="0">
              <a:lnSpc>
                <a:spcPts val="1500"/>
              </a:lnSpc>
              <a:buNone/>
            </a:pPr>
            <a:r>
              <a:rPr lang="en-US" sz="1150" dirty="0">
                <a:solidFill>
                  <a:srgbClr val="272525"/>
                </a:solidFill>
                <a:latin typeface="Source Sans 3" pitchFamily="34" charset="0"/>
                <a:ea typeface="Source Sans 3" pitchFamily="34" charset="-122"/>
                <a:cs typeface="Source Sans 3" pitchFamily="34" charset="-120"/>
              </a:rPr>
              <a:t>Oversee all uploaded content to ensure compliance with community guidelines and maintain platform quality.</a:t>
            </a:r>
            <a:endParaRPr lang="en-US" sz="1150" dirty="0"/>
          </a:p>
        </p:txBody>
      </p:sp>
      <p:sp>
        <p:nvSpPr>
          <p:cNvPr id="19" name="Shape 15"/>
          <p:cNvSpPr/>
          <p:nvPr/>
        </p:nvSpPr>
        <p:spPr>
          <a:xfrm>
            <a:off x="532090" y="5031343"/>
            <a:ext cx="8079819" cy="771049"/>
          </a:xfrm>
          <a:prstGeom prst="rect">
            <a:avLst/>
          </a:prstGeom>
          <a:solidFill>
            <a:srgbClr val="F0D4F7"/>
          </a:solidFill>
          <a:ln/>
        </p:spPr>
      </p:sp>
      <p:sp>
        <p:nvSpPr>
          <p:cNvPr id="20" name="Shape 16"/>
          <p:cNvSpPr/>
          <p:nvPr/>
        </p:nvSpPr>
        <p:spPr>
          <a:xfrm>
            <a:off x="532090" y="5031343"/>
            <a:ext cx="8079819" cy="15240"/>
          </a:xfrm>
          <a:prstGeom prst="roundRect">
            <a:avLst>
              <a:gd name="adj" fmla="val 413036"/>
            </a:avLst>
          </a:prstGeom>
          <a:solidFill>
            <a:srgbClr val="D6BADD"/>
          </a:solidFill>
          <a:ln/>
        </p:spPr>
      </p:sp>
      <p:sp>
        <p:nvSpPr>
          <p:cNvPr id="21" name="Text 17"/>
          <p:cNvSpPr/>
          <p:nvPr/>
        </p:nvSpPr>
        <p:spPr>
          <a:xfrm>
            <a:off x="681871" y="5181124"/>
            <a:ext cx="1763197" cy="220385"/>
          </a:xfrm>
          <a:prstGeom prst="rect">
            <a:avLst/>
          </a:prstGeom>
          <a:noFill/>
          <a:ln/>
        </p:spPr>
        <p:txBody>
          <a:bodyPr wrap="none" lIns="0" tIns="0" rIns="0" bIns="0" rtlCol="0" anchor="t"/>
          <a:lstStyle/>
          <a:p>
            <a:pPr algn="l" indent="0" marL="0">
              <a:lnSpc>
                <a:spcPts val="1700"/>
              </a:lnSpc>
              <a:buNone/>
            </a:pPr>
            <a:r>
              <a:rPr lang="en-US" sz="1350" dirty="0">
                <a:solidFill>
                  <a:srgbClr val="272525"/>
                </a:solidFill>
                <a:latin typeface="Source Serif 4 Semi Bold" pitchFamily="34" charset="0"/>
                <a:ea typeface="Source Serif 4 Semi Bold" pitchFamily="34" charset="-122"/>
                <a:cs typeface="Source Serif 4 Semi Bold" pitchFamily="34" charset="-120"/>
              </a:rPr>
              <a:t>Future Analytics</a:t>
            </a:r>
            <a:endParaRPr lang="en-US" sz="1350" dirty="0"/>
          </a:p>
        </p:txBody>
      </p:sp>
      <p:sp>
        <p:nvSpPr>
          <p:cNvPr id="22" name="Text 18"/>
          <p:cNvSpPr/>
          <p:nvPr/>
        </p:nvSpPr>
        <p:spPr>
          <a:xfrm>
            <a:off x="681871" y="5457706"/>
            <a:ext cx="7780258" cy="194905"/>
          </a:xfrm>
          <a:prstGeom prst="rect">
            <a:avLst/>
          </a:prstGeom>
          <a:noFill/>
          <a:ln/>
        </p:spPr>
        <p:txBody>
          <a:bodyPr wrap="none" lIns="0" tIns="0" rIns="0" bIns="0" rtlCol="0" anchor="t"/>
          <a:lstStyle/>
          <a:p>
            <a:pPr algn="l" indent="0" marL="0">
              <a:lnSpc>
                <a:spcPts val="1500"/>
              </a:lnSpc>
              <a:buNone/>
            </a:pPr>
            <a:r>
              <a:rPr lang="en-US" sz="1150" dirty="0">
                <a:solidFill>
                  <a:srgbClr val="272525"/>
                </a:solidFill>
                <a:latin typeface="Source Sans 3" pitchFamily="34" charset="0"/>
                <a:ea typeface="Source Sans 3" pitchFamily="34" charset="-122"/>
                <a:cs typeface="Source Sans 3" pitchFamily="34" charset="-120"/>
              </a:rPr>
              <a:t>Upcoming features will include detailed engagement statistics and system health monitoring for data-driven decisions.</a:t>
            </a:r>
            <a:endParaRPr lang="en-US" sz="1150" dirty="0"/>
          </a:p>
        </p:txBody>
      </p:sp>
      <p:sp>
        <p:nvSpPr>
          <p:cNvPr id="23" name="Shape 19"/>
          <p:cNvSpPr/>
          <p:nvPr/>
        </p:nvSpPr>
        <p:spPr>
          <a:xfrm>
            <a:off x="524470" y="5915501"/>
            <a:ext cx="8095059" cy="680323"/>
          </a:xfrm>
          <a:prstGeom prst="roundRect">
            <a:avLst>
              <a:gd name="adj" fmla="val 9252"/>
            </a:avLst>
          </a:prstGeom>
          <a:solidFill>
            <a:srgbClr val="E8BEF4"/>
          </a:solidFill>
          <a:ln/>
        </p:spPr>
      </p:sp>
      <p:pic>
        <p:nvPicPr>
          <p:cNvPr id="24" name="Image 2" descr="preencoded.png">    </p:cNvPr>
          <p:cNvPicPr>
            <a:picLocks noChangeAspect="1"/>
          </p:cNvPicPr>
          <p:nvPr/>
        </p:nvPicPr>
        <p:blipFill>
          <a:blip r:embed="rId3"/>
          <a:stretch>
            <a:fillRect/>
          </a:stretch>
        </p:blipFill>
        <p:spPr>
          <a:xfrm>
            <a:off x="674251" y="6108740"/>
            <a:ext cx="187285" cy="149781"/>
          </a:xfrm>
          <a:prstGeom prst="rect">
            <a:avLst/>
          </a:prstGeom>
        </p:spPr>
      </p:pic>
      <p:sp>
        <p:nvSpPr>
          <p:cNvPr id="25" name="Text 20"/>
          <p:cNvSpPr/>
          <p:nvPr/>
        </p:nvSpPr>
        <p:spPr>
          <a:xfrm>
            <a:off x="1011317" y="6046708"/>
            <a:ext cx="7458432" cy="389811"/>
          </a:xfrm>
          <a:prstGeom prst="rect">
            <a:avLst/>
          </a:prstGeom>
          <a:noFill/>
          <a:ln/>
        </p:spPr>
        <p:txBody>
          <a:bodyPr wrap="square" lIns="0" tIns="0" rIns="0" bIns="0" rtlCol="0" anchor="t"/>
          <a:lstStyle/>
          <a:p>
            <a:pPr algn="l" indent="0" marL="0">
              <a:lnSpc>
                <a:spcPts val="1500"/>
              </a:lnSpc>
              <a:buNone/>
            </a:pPr>
            <a:r>
              <a:rPr lang="en-US" sz="1150" b="1" dirty="0">
                <a:solidFill>
                  <a:srgbClr val="000000"/>
                </a:solidFill>
                <a:latin typeface="Source Sans 3" pitchFamily="34" charset="0"/>
                <a:ea typeface="Source Sans 3" pitchFamily="34" charset="-122"/>
                <a:cs typeface="Source Sans 3" pitchFamily="34" charset="-120"/>
              </a:rPr>
              <a:t>Proactive Oversight:</a:t>
            </a:r>
            <a:pPr algn="l" indent="0" marL="0">
              <a:lnSpc>
                <a:spcPts val="1500"/>
              </a:lnSpc>
              <a:buNone/>
            </a:pPr>
            <a:r>
              <a:rPr lang="en-US" sz="1150" dirty="0">
                <a:solidFill>
                  <a:srgbClr val="000000"/>
                </a:solidFill>
                <a:latin typeface="Source Sans 3" pitchFamily="34" charset="0"/>
                <a:ea typeface="Source Sans 3" pitchFamily="34" charset="-122"/>
                <a:cs typeface="Source Sans 3" pitchFamily="34" charset="-120"/>
              </a:rPr>
              <a:t> These administrative capabilities ensure Uniflow remains a safe, effective, and high-quality academic collaboration platform for everyone.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2026-02-04T10:11:01Z</dcterms:created>
  <dcterms:modified xsi:type="dcterms:W3CDTF">2026-02-04T10:11:01Z</dcterms:modified>
</cp:coreProperties>
</file>